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8288000" cy="10287000"/>
  <p:notesSz cx="6858000" cy="9144000"/>
  <p:embeddedFontLst>
    <p:embeddedFont>
      <p:font typeface="IBM Plex Mono" panose="020B0509050203000203" charset="0"/>
      <p:regular r:id="rId13"/>
    </p:embeddedFont>
    <p:embeddedFont>
      <p:font typeface="Microsoft YaHei UI" panose="020B0503020204020204" charset="-122"/>
      <p:regular r:id="rId14"/>
      <p:bold r:id="rId15"/>
    </p:embeddedFont>
    <p:embeddedFont>
      <p:font typeface="IBM Plex Mono" panose="020B0509050203000203"/>
      <p:regular r:id="rId16"/>
    </p:embeddedFont>
    <p:embeddedFont>
      <p:font typeface="IBM Plex Mono Bold" panose="020B0809050203000203" charset="0"/>
      <p:bold r:id="rId17"/>
    </p:embeddedFont>
    <p:embeddedFont>
      <p:font typeface="IBM Plex Mono Bold" panose="020B0809050203000203"/>
      <p:bold r:id="rId18"/>
    </p:embeddedFont>
    <p:embeddedFont>
      <p:font typeface="IBM Plex Mono Medium" panose="020B0609050203000203"/>
      <p:regular r:id="rId19"/>
    </p:embeddedFont>
    <p:embeddedFont>
      <p:font typeface="IBM Plex Mono Italics" panose="020B0509050203000203"/>
      <p:italic r:id="rId20"/>
    </p:embeddedFont>
    <p:embeddedFont>
      <p:font typeface="Calibri" panose="020F050202020403020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font" Target="fonts/font12.fntdata"/><Relationship Id="rId23" Type="http://schemas.openxmlformats.org/officeDocument/2006/relationships/font" Target="fonts/font11.fntdata"/><Relationship Id="rId22" Type="http://schemas.openxmlformats.org/officeDocument/2006/relationships/font" Target="fonts/font10.fntdata"/><Relationship Id="rId21" Type="http://schemas.openxmlformats.org/officeDocument/2006/relationships/font" Target="fonts/font9.fntdata"/><Relationship Id="rId20" Type="http://schemas.openxmlformats.org/officeDocument/2006/relationships/font" Target="fonts/font8.fntdata"/><Relationship Id="rId2" Type="http://schemas.openxmlformats.org/officeDocument/2006/relationships/theme" Target="theme/theme1.xml"/><Relationship Id="rId19" Type="http://schemas.openxmlformats.org/officeDocument/2006/relationships/font" Target="fonts/font7.fntdata"/><Relationship Id="rId18" Type="http://schemas.openxmlformats.org/officeDocument/2006/relationships/font" Target="fonts/font6.fntdata"/><Relationship Id="rId17" Type="http://schemas.openxmlformats.org/officeDocument/2006/relationships/font" Target="fonts/font5.fntdata"/><Relationship Id="rId16" Type="http://schemas.openxmlformats.org/officeDocument/2006/relationships/font" Target="fonts/font4.fntdata"/><Relationship Id="rId15" Type="http://schemas.openxmlformats.org/officeDocument/2006/relationships/font" Target="fonts/font3.fntdata"/><Relationship Id="rId14" Type="http://schemas.openxmlformats.org/officeDocument/2006/relationships/font" Target="fonts/font2.fntdata"/><Relationship Id="rId13" Type="http://schemas.openxmlformats.org/officeDocument/2006/relationships/font" Target="fonts/font1.fntdata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>
                <a:ea typeface="Microsoft YaHei UI" panose="020B0503020204020204" charset="-122"/>
              </a:rPr>
              <a:t>Testing </a:t>
            </a:r>
            <a:r>
              <a:rPr lang="zh-CN" altLang="en-US">
                <a:ea typeface="Microsoft YaHei UI" panose="020B0503020204020204" charset="-122"/>
              </a:rPr>
              <a:t>就是根据需求检查软件的实际表现。它既包括运行程序，也包括需求评审、代码检查这些不运行程序的工作。运行测试时，首先要知道正确结果是什么，这个判断依据就是</a:t>
            </a:r>
            <a:r>
              <a:rPr lang="en-US" altLang="zh-CN">
                <a:ea typeface="Microsoft YaHei UI" panose="020B0503020204020204" charset="-122"/>
              </a:rPr>
              <a:t> test oracle</a:t>
            </a:r>
            <a:r>
              <a:rPr lang="zh-CN" altLang="en-US">
                <a:ea typeface="Microsoft YaHei UI" panose="020B0503020204020204" charset="-122"/>
              </a:rPr>
              <a:t>。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zh-CN" altLang="zh-CN">
                <a:ea typeface="Microsoft YaHei UI" panose="020B0503020204020204" charset="-122"/>
              </a:rPr>
              <a:t>一条</a:t>
            </a:r>
            <a:r>
              <a:rPr lang="en-US" altLang="zh-CN">
                <a:ea typeface="Microsoft YaHei UI" panose="020B0503020204020204" charset="-122"/>
              </a:rPr>
              <a:t> test case </a:t>
            </a:r>
            <a:r>
              <a:rPr lang="zh-CN" altLang="en-US">
                <a:ea typeface="Microsoft YaHei UI" panose="020B0503020204020204" charset="-122"/>
              </a:rPr>
              <a:t>需要写清前置条件、测试数据、执行动作和预期结果。</a:t>
            </a:r>
            <a:r>
              <a:rPr lang="en-US" altLang="zh-CN">
                <a:ea typeface="Microsoft YaHei UI" panose="020B0503020204020204" charset="-122"/>
              </a:rPr>
              <a:t>Given</a:t>
            </a:r>
            <a:r>
              <a:rPr lang="zh-CN" altLang="en-US">
                <a:ea typeface="Microsoft YaHei UI" panose="020B0503020204020204" charset="-122"/>
              </a:rPr>
              <a:t>、</a:t>
            </a:r>
            <a:r>
              <a:rPr lang="en-US" altLang="zh-CN">
                <a:ea typeface="Microsoft YaHei UI" panose="020B0503020204020204" charset="-122"/>
              </a:rPr>
              <a:t>When</a:t>
            </a:r>
            <a:r>
              <a:rPr lang="zh-CN" altLang="en-US">
                <a:ea typeface="Microsoft YaHei UI" panose="020B0503020204020204" charset="-122"/>
              </a:rPr>
              <a:t>、</a:t>
            </a:r>
            <a:r>
              <a:rPr lang="en-US" altLang="zh-CN">
                <a:ea typeface="Microsoft YaHei UI" panose="020B0503020204020204" charset="-122"/>
              </a:rPr>
              <a:t>Then </a:t>
            </a:r>
            <a:r>
              <a:rPr lang="zh-CN" altLang="en-US">
                <a:ea typeface="Microsoft YaHei UI" panose="020B0503020204020204" charset="-122"/>
              </a:rPr>
              <a:t>可以帮助我们记住这几部分：</a:t>
            </a:r>
            <a:r>
              <a:rPr lang="en-US" altLang="zh-CN">
                <a:ea typeface="Microsoft YaHei UI" panose="020B0503020204020204" charset="-122"/>
              </a:rPr>
              <a:t>Given </a:t>
            </a:r>
            <a:r>
              <a:rPr lang="zh-CN" altLang="en-US">
                <a:ea typeface="Microsoft YaHei UI" panose="020B0503020204020204" charset="-122"/>
              </a:rPr>
              <a:t>准备情况，</a:t>
            </a:r>
            <a:r>
              <a:rPr lang="en-US" altLang="zh-CN">
                <a:ea typeface="Microsoft YaHei UI" panose="020B0503020204020204" charset="-122"/>
              </a:rPr>
              <a:t>When </a:t>
            </a:r>
            <a:r>
              <a:rPr lang="zh-CN" altLang="en-US">
                <a:ea typeface="Microsoft YaHei UI" panose="020B0503020204020204" charset="-122"/>
              </a:rPr>
              <a:t>执行动作，</a:t>
            </a:r>
            <a:r>
              <a:rPr lang="en-US" altLang="zh-CN">
                <a:ea typeface="Microsoft YaHei UI" panose="020B0503020204020204" charset="-122"/>
              </a:rPr>
              <a:t>Then </a:t>
            </a:r>
            <a:r>
              <a:rPr lang="zh-CN" altLang="en-US">
                <a:ea typeface="Microsoft YaHei UI" panose="020B0503020204020204" charset="-122"/>
              </a:rPr>
              <a:t>检查结果。写成代码后，最后一步通常就是</a:t>
            </a:r>
            <a:r>
              <a:rPr lang="en-US" altLang="zh-CN">
                <a:ea typeface="Microsoft YaHei UI" panose="020B0503020204020204" charset="-122"/>
              </a:rPr>
              <a:t> assertion</a:t>
            </a:r>
            <a:r>
              <a:rPr lang="zh-CN" altLang="en-US">
                <a:ea typeface="Microsoft YaHei UI" panose="020B0503020204020204" charset="-122"/>
              </a:rPr>
              <a:t>。操作没有报错，并不代表业务结果正确。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zh-CN" altLang="zh-CN">
                <a:ea typeface="Microsoft YaHei UI" panose="020B0503020204020204" charset="-122"/>
              </a:rPr>
              <a:t>测试也有不同层级。</a:t>
            </a:r>
            <a:r>
              <a:rPr lang="en-US" altLang="zh-CN">
                <a:ea typeface="Microsoft YaHei UI" panose="020B0503020204020204" charset="-122"/>
              </a:rPr>
              <a:t>Unit </a:t>
            </a:r>
            <a:r>
              <a:rPr lang="zh-CN" altLang="en-US">
                <a:ea typeface="Microsoft YaHei UI" panose="020B0503020204020204" charset="-122"/>
              </a:rPr>
              <a:t>检查局部逻辑，</a:t>
            </a:r>
            <a:r>
              <a:rPr lang="en-US" altLang="zh-CN">
                <a:ea typeface="Microsoft YaHei UI" panose="020B0503020204020204" charset="-122"/>
              </a:rPr>
              <a:t>Integration </a:t>
            </a:r>
            <a:r>
              <a:rPr lang="zh-CN" altLang="en-US">
                <a:ea typeface="Microsoft YaHei UI" panose="020B0503020204020204" charset="-122"/>
              </a:rPr>
              <a:t>检查组件或系统怎样配合，</a:t>
            </a:r>
            <a:r>
              <a:rPr lang="en-US" altLang="zh-CN">
                <a:ea typeface="Microsoft YaHei UI" panose="020B0503020204020204" charset="-122"/>
              </a:rPr>
              <a:t>System </a:t>
            </a:r>
            <a:r>
              <a:rPr lang="zh-CN" altLang="en-US">
                <a:ea typeface="Microsoft YaHei UI" panose="020B0503020204020204" charset="-122"/>
              </a:rPr>
              <a:t>检查整个系统，</a:t>
            </a:r>
            <a:r>
              <a:rPr lang="en-US" altLang="zh-CN">
                <a:ea typeface="Microsoft YaHei UI" panose="020B0503020204020204" charset="-122"/>
              </a:rPr>
              <a:t>Acceptance </a:t>
            </a:r>
            <a:r>
              <a:rPr lang="zh-CN" altLang="en-US">
                <a:ea typeface="Microsoft YaHei UI" panose="020B0503020204020204" charset="-122"/>
              </a:rPr>
              <a:t>检查是否满足业务验收要求。</a:t>
            </a:r>
            <a:r>
              <a:rPr lang="en-US" altLang="zh-CN">
                <a:ea typeface="Microsoft YaHei UI" panose="020B0503020204020204" charset="-122"/>
              </a:rPr>
              <a:t>Functional </a:t>
            </a:r>
            <a:r>
              <a:rPr lang="zh-CN" altLang="en-US">
                <a:ea typeface="Microsoft YaHei UI" panose="020B0503020204020204" charset="-122"/>
              </a:rPr>
              <a:t>关注做得对不对，</a:t>
            </a:r>
            <a:r>
              <a:rPr lang="en-US" altLang="zh-CN">
                <a:ea typeface="Microsoft YaHei UI" panose="020B0503020204020204" charset="-122"/>
              </a:rPr>
              <a:t>Non-functional </a:t>
            </a:r>
            <a:r>
              <a:rPr lang="zh-CN" altLang="en-US">
                <a:ea typeface="Microsoft YaHei UI" panose="020B0503020204020204" charset="-122"/>
              </a:rPr>
              <a:t>关注性能、可靠性、安全性等。</a:t>
            </a:r>
            <a:r>
              <a:rPr lang="en-US" altLang="zh-CN">
                <a:ea typeface="Microsoft YaHei UI" panose="020B0503020204020204" charset="-122"/>
              </a:rPr>
              <a:t>API </a:t>
            </a:r>
            <a:r>
              <a:rPr lang="zh-CN" altLang="en-US">
                <a:ea typeface="Microsoft YaHei UI" panose="020B0503020204020204" charset="-122"/>
              </a:rPr>
              <a:t>和</a:t>
            </a:r>
            <a:r>
              <a:rPr lang="en-US" altLang="zh-CN">
                <a:ea typeface="Microsoft YaHei UI" panose="020B0503020204020204" charset="-122"/>
              </a:rPr>
              <a:t> UI </a:t>
            </a:r>
            <a:r>
              <a:rPr lang="zh-CN" altLang="en-US">
                <a:ea typeface="Microsoft YaHei UI" panose="020B0503020204020204" charset="-122"/>
              </a:rPr>
              <a:t>是测试入口，不是另外一套互斥层级。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zh-CN" altLang="zh-CN">
                <a:ea typeface="Microsoft YaHei UI" panose="020B0503020204020204" charset="-122"/>
              </a:rPr>
              <a:t>通过测试，只说明这些条件和检查项通过了。没有写到、没有执行的情况，仍然可能有问题。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zh-CN" altLang="zh-CN">
                <a:ea typeface="Microsoft YaHei UI" panose="020B0503020204020204" charset="-122"/>
              </a:rPr>
              <a:t>参考：</a:t>
            </a:r>
            <a:r>
              <a:rPr lang="en-US" altLang="zh-CN">
                <a:ea typeface="Microsoft YaHei UI" panose="020B0503020204020204" charset="-122"/>
              </a:rPr>
              <a:t>ISTQB CTFL v4.0.1</a:t>
            </a:r>
            <a:r>
              <a:rPr lang="zh-CN" altLang="en-US">
                <a:ea typeface="Microsoft YaHei UI" panose="020B0503020204020204" charset="-122"/>
              </a:rPr>
              <a:t>，§</a:t>
            </a:r>
            <a:r>
              <a:rPr lang="en-US" altLang="zh-CN">
                <a:ea typeface="Microsoft YaHei UI" panose="020B0503020204020204" charset="-122"/>
              </a:rPr>
              <a:t>1</a:t>
            </a:r>
            <a:r>
              <a:rPr lang="zh-CN" altLang="en-US">
                <a:ea typeface="Microsoft YaHei UI" panose="020B0503020204020204" charset="-122"/>
              </a:rPr>
              <a:t>、§</a:t>
            </a:r>
            <a:r>
              <a:rPr lang="en-US" altLang="zh-CN">
                <a:ea typeface="Microsoft YaHei UI" panose="020B0503020204020204" charset="-122"/>
              </a:rPr>
              <a:t>2.2</a:t>
            </a:r>
            <a:r>
              <a:rPr lang="zh-CN" altLang="en-US">
                <a:ea typeface="Microsoft YaHei UI" panose="020B0503020204020204" charset="-122"/>
              </a:rPr>
              <a:t>、§</a:t>
            </a:r>
            <a:r>
              <a:rPr lang="en-US" altLang="zh-CN">
                <a:ea typeface="Microsoft YaHei UI" panose="020B0503020204020204" charset="-122"/>
              </a:rPr>
              <a:t>3</a:t>
            </a:r>
            <a:r>
              <a:rPr lang="zh-CN" altLang="en-US">
                <a:ea typeface="Microsoft YaHei UI" panose="020B0503020204020204" charset="-122"/>
              </a:rPr>
              <a:t>。</a:t>
            </a:r>
            <a:r>
              <a:rPr lang="en-US" altLang="zh-CN">
                <a:ea typeface="Microsoft YaHei UI" panose="020B0503020204020204" charset="-122"/>
              </a:rPr>
              <a:t>https://istqb.org/wp-content/uploads/2024/11/ISTQB_CTFL_Syllabus_v4.0.1.pdf</a:t>
            </a:r>
            <a:endParaRPr lang="en-US" altLang="zh-CN">
              <a:ea typeface="Microsoft YaHei UI" panose="020B0503020204020204" charset="-122"/>
            </a:endParaRPr>
          </a:p>
          <a:p>
            <a:r>
              <a:rPr lang="en-US" altLang="zh-CN">
                <a:ea typeface="Microsoft YaHei UI" panose="020B0503020204020204" charset="-122"/>
              </a:rPr>
              <a:t>Gherkin</a:t>
            </a:r>
            <a:r>
              <a:rPr lang="zh-CN" altLang="en-US">
                <a:ea typeface="Microsoft YaHei UI" panose="020B0503020204020204" charset="-122"/>
              </a:rPr>
              <a:t>：</a:t>
            </a:r>
            <a:r>
              <a:rPr lang="en-US" altLang="zh-CN">
                <a:ea typeface="Microsoft YaHei UI" panose="020B0503020204020204" charset="-122"/>
              </a:rPr>
              <a:t>https://cucumber.io/docs/gherkin/reference/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zh-CN" altLang="zh-CN">
                <a:ea typeface="Microsoft YaHei UI" panose="020B0503020204020204" charset="-122"/>
              </a:rPr>
              <a:t>讲解时可以沿着完整</a:t>
            </a:r>
            <a:r>
              <a:rPr lang="en-US" altLang="zh-CN">
                <a:ea typeface="Microsoft YaHei UI" panose="020B0503020204020204" charset="-122"/>
              </a:rPr>
              <a:t> case </a:t>
            </a:r>
            <a:r>
              <a:rPr lang="zh-CN" altLang="en-US">
                <a:ea typeface="Microsoft YaHei UI" panose="020B0503020204020204" charset="-122"/>
              </a:rPr>
              <a:t>说下去：为什么要让其他字段合法？因为我们要确认失败来自空</a:t>
            </a:r>
            <a:r>
              <a:rPr lang="en-US" altLang="zh-CN">
                <a:ea typeface="Microsoft YaHei UI" panose="020B0503020204020204" charset="-122"/>
              </a:rPr>
              <a:t> name</a:t>
            </a:r>
            <a:r>
              <a:rPr lang="zh-CN" altLang="en-US">
                <a:ea typeface="Microsoft YaHei UI" panose="020B0503020204020204" charset="-122"/>
              </a:rPr>
              <a:t>，而不是别的规则。为什么</a:t>
            </a:r>
            <a:r>
              <a:rPr lang="en-US" altLang="zh-CN">
                <a:ea typeface="Microsoft YaHei UI" panose="020B0503020204020204" charset="-122"/>
              </a:rPr>
              <a:t> Then </a:t>
            </a:r>
            <a:r>
              <a:rPr lang="zh-CN" altLang="en-US">
                <a:ea typeface="Microsoft YaHei UI" panose="020B0503020204020204" charset="-122"/>
              </a:rPr>
              <a:t>要同时检查提示和未保存？因为提示正确但记录仍被写入，也违反了需求。实际实现可通过页面重新读取或合适的</a:t>
            </a:r>
            <a:r>
              <a:rPr lang="en-US" altLang="zh-CN">
                <a:ea typeface="Microsoft YaHei UI" panose="020B0503020204020204" charset="-122"/>
              </a:rPr>
              <a:t> API </a:t>
            </a:r>
            <a:r>
              <a:rPr lang="zh-CN" altLang="en-US">
                <a:ea typeface="Microsoft YaHei UI" panose="020B0503020204020204" charset="-122"/>
              </a:rPr>
              <a:t>检查保存结果。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zh-CN" altLang="zh-CN">
                <a:ea typeface="Microsoft YaHei UI" panose="020B0503020204020204" charset="-122"/>
              </a:rPr>
              <a:t>页面的完整</a:t>
            </a:r>
            <a:r>
              <a:rPr lang="en-US" altLang="zh-CN">
                <a:ea typeface="Microsoft YaHei UI" panose="020B0503020204020204" charset="-122"/>
              </a:rPr>
              <a:t> case </a:t>
            </a:r>
            <a:r>
              <a:rPr lang="zh-CN" altLang="en-US">
                <a:ea typeface="Microsoft YaHei UI" panose="020B0503020204020204" charset="-122"/>
              </a:rPr>
              <a:t>示例：</a:t>
            </a:r>
            <a:r>
              <a:rPr lang="en-US" altLang="zh-CN">
                <a:ea typeface="Microsoft YaHei UI" panose="020B0503020204020204" charset="-122"/>
              </a:rPr>
              <a:t>name </a:t>
            </a:r>
            <a:r>
              <a:rPr lang="zh-CN" altLang="en-US">
                <a:ea typeface="Microsoft YaHei UI" panose="020B0503020204020204" charset="-122"/>
              </a:rPr>
              <a:t>是必填字段，输入为空、其余字段合法，用户已登录并提交表单。预期显示对应必填提示，并且数据不保存。字段和规则是教学假设。</a:t>
            </a:r>
            <a:endParaRPr lang="zh-CN" altLang="en-US">
              <a:ea typeface="Microsoft YaHei UI" panose="020B050302020402020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>
                <a:ea typeface="Microsoft YaHei UI" panose="020B0503020204020204" charset="-122"/>
              </a:rPr>
              <a:t>Automation Testing </a:t>
            </a:r>
            <a:r>
              <a:rPr lang="zh-CN" altLang="en-US">
                <a:ea typeface="Microsoft YaHei UI" panose="020B0503020204020204" charset="-122"/>
              </a:rPr>
              <a:t>是把可以重复执行的检查接到程序和工具上。一个完整的自动化测试通常要准备数据与身份、执行操作、比较结果，再保存报告。它可以调用一个方法、发</a:t>
            </a:r>
            <a:r>
              <a:rPr lang="en-US" altLang="zh-CN">
                <a:ea typeface="Microsoft YaHei UI" panose="020B0503020204020204" charset="-122"/>
              </a:rPr>
              <a:t> API </a:t>
            </a:r>
            <a:r>
              <a:rPr lang="zh-CN" altLang="en-US">
                <a:ea typeface="Microsoft YaHei UI" panose="020B0503020204020204" charset="-122"/>
              </a:rPr>
              <a:t>请求，也可以操作浏览器。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zh-CN" altLang="zh-CN">
                <a:ea typeface="Microsoft YaHei UI" panose="020B0503020204020204" charset="-122"/>
              </a:rPr>
              <a:t>准备数据时，要确保场景知道自己使用哪些记录，以及开始时是什么状态。执行以后，断言要检查需求真正关心的东西。例如不能只检查</a:t>
            </a:r>
            <a:r>
              <a:rPr lang="en-US" altLang="zh-CN">
                <a:ea typeface="Microsoft YaHei UI" panose="020B0503020204020204" charset="-122"/>
              </a:rPr>
              <a:t> HTTP 200</a:t>
            </a:r>
            <a:r>
              <a:rPr lang="zh-CN" altLang="en-US">
                <a:ea typeface="Microsoft YaHei UI" panose="020B0503020204020204" charset="-122"/>
              </a:rPr>
              <a:t>，也要检查返回的业务状态。</a:t>
            </a:r>
            <a:r>
              <a:rPr lang="en-US" altLang="zh-CN">
                <a:ea typeface="Microsoft YaHei UI" panose="020B0503020204020204" charset="-122"/>
              </a:rPr>
              <a:t>UI </a:t>
            </a:r>
            <a:r>
              <a:rPr lang="zh-CN" altLang="en-US">
                <a:ea typeface="Microsoft YaHei UI" panose="020B0503020204020204" charset="-122"/>
              </a:rPr>
              <a:t>测试也不能只看按钮点击成功，还要读实际结果。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zh-CN" altLang="zh-CN">
                <a:ea typeface="Microsoft YaHei UI" panose="020B0503020204020204" charset="-122"/>
              </a:rPr>
              <a:t>测试代码可以分成几个部分：</a:t>
            </a:r>
            <a:r>
              <a:rPr lang="en-US" altLang="zh-CN">
                <a:ea typeface="Microsoft YaHei UI" panose="020B0503020204020204" charset="-122"/>
              </a:rPr>
              <a:t>scenario </a:t>
            </a:r>
            <a:r>
              <a:rPr lang="zh-CN" altLang="en-US">
                <a:ea typeface="Microsoft YaHei UI" panose="020B0503020204020204" charset="-122"/>
              </a:rPr>
              <a:t>或</a:t>
            </a:r>
            <a:r>
              <a:rPr lang="en-US" altLang="zh-CN">
                <a:ea typeface="Microsoft YaHei UI" panose="020B0503020204020204" charset="-122"/>
              </a:rPr>
              <a:t> test </a:t>
            </a:r>
            <a:r>
              <a:rPr lang="zh-CN" altLang="en-US">
                <a:ea typeface="Microsoft YaHei UI" panose="020B0503020204020204" charset="-122"/>
              </a:rPr>
              <a:t>描述要检查什么，</a:t>
            </a:r>
            <a:r>
              <a:rPr lang="en-US" altLang="zh-CN">
                <a:ea typeface="Microsoft YaHei UI" panose="020B0503020204020204" charset="-122"/>
              </a:rPr>
              <a:t>actions </a:t>
            </a:r>
            <a:r>
              <a:rPr lang="zh-CN" altLang="en-US">
                <a:ea typeface="Microsoft YaHei UI" panose="020B0503020204020204" charset="-122"/>
              </a:rPr>
              <a:t>或</a:t>
            </a:r>
            <a:r>
              <a:rPr lang="en-US" altLang="zh-CN">
                <a:ea typeface="Microsoft YaHei UI" panose="020B0503020204020204" charset="-122"/>
              </a:rPr>
              <a:t> client </a:t>
            </a:r>
            <a:r>
              <a:rPr lang="zh-CN" altLang="en-US">
                <a:ea typeface="Microsoft YaHei UI" panose="020B0503020204020204" charset="-122"/>
              </a:rPr>
              <a:t>复用操作，</a:t>
            </a:r>
            <a:r>
              <a:rPr lang="en-US" altLang="zh-CN">
                <a:ea typeface="Microsoft YaHei UI" panose="020B0503020204020204" charset="-122"/>
              </a:rPr>
              <a:t>Page Object </a:t>
            </a:r>
            <a:r>
              <a:rPr lang="zh-CN" altLang="en-US">
                <a:ea typeface="Microsoft YaHei UI" panose="020B0503020204020204" charset="-122"/>
              </a:rPr>
              <a:t>处理页面定位和读取，</a:t>
            </a:r>
            <a:r>
              <a:rPr lang="en-US" altLang="zh-CN">
                <a:ea typeface="Microsoft YaHei UI" panose="020B0503020204020204" charset="-122"/>
              </a:rPr>
              <a:t>fixture </a:t>
            </a:r>
            <a:r>
              <a:rPr lang="zh-CN" altLang="en-US">
                <a:ea typeface="Microsoft YaHei UI" panose="020B0503020204020204" charset="-122"/>
              </a:rPr>
              <a:t>负责数据，</a:t>
            </a:r>
            <a:r>
              <a:rPr lang="en-US" altLang="zh-CN">
                <a:ea typeface="Microsoft YaHei UI" panose="020B0503020204020204" charset="-122"/>
              </a:rPr>
              <a:t>assertions </a:t>
            </a:r>
            <a:r>
              <a:rPr lang="zh-CN" altLang="en-US">
                <a:ea typeface="Microsoft YaHei UI" panose="020B0503020204020204" charset="-122"/>
              </a:rPr>
              <a:t>负责判断。这样页面定位改变时，不需要修改每条业务场景。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zh-CN" altLang="zh-CN">
                <a:ea typeface="Microsoft YaHei UI" panose="020B0503020204020204" charset="-122"/>
              </a:rPr>
              <a:t>对</a:t>
            </a:r>
            <a:r>
              <a:rPr lang="en-US" altLang="zh-CN">
                <a:ea typeface="Microsoft YaHei UI" panose="020B0503020204020204" charset="-122"/>
              </a:rPr>
              <a:t> QA</a:t>
            </a:r>
            <a:r>
              <a:rPr lang="zh-CN" altLang="en-US">
                <a:ea typeface="Microsoft YaHei UI" panose="020B0503020204020204" charset="-122"/>
              </a:rPr>
              <a:t>，自动化可以减少反复手工检查，让他们有更多时间做测试设计和探索。对项目，主要帮助是更快发现改动带来的问题。但是脚本也需要维护，环境、数据或等待条件不稳定会造成</a:t>
            </a:r>
            <a:r>
              <a:rPr lang="en-US" altLang="zh-CN">
                <a:ea typeface="Microsoft YaHei UI" panose="020B0503020204020204" charset="-122"/>
              </a:rPr>
              <a:t> flaky tests</a:t>
            </a:r>
            <a:r>
              <a:rPr lang="zh-CN" altLang="en-US">
                <a:ea typeface="Microsoft YaHei UI" panose="020B0503020204020204" charset="-122"/>
              </a:rPr>
              <a:t>。重复运行直到变绿不能代替原因分析。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zh-CN" altLang="zh-CN">
                <a:ea typeface="Microsoft YaHei UI" panose="020B0503020204020204" charset="-122"/>
              </a:rPr>
              <a:t>优先选择反复执行、规则明确、结果能可靠判断的检查。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zh-CN" altLang="zh-CN">
                <a:ea typeface="Microsoft YaHei UI" panose="020B0503020204020204" charset="-122"/>
              </a:rPr>
              <a:t>参考：</a:t>
            </a:r>
            <a:r>
              <a:rPr lang="en-US" altLang="zh-CN">
                <a:ea typeface="Microsoft YaHei UI" panose="020B0503020204020204" charset="-122"/>
              </a:rPr>
              <a:t>ISTQB CTFL </a:t>
            </a:r>
            <a:r>
              <a:rPr lang="zh-CN" altLang="en-US">
                <a:ea typeface="Microsoft YaHei UI" panose="020B0503020204020204" charset="-122"/>
              </a:rPr>
              <a:t>§</a:t>
            </a:r>
            <a:r>
              <a:rPr lang="en-US" altLang="zh-CN">
                <a:ea typeface="Microsoft YaHei UI" panose="020B0503020204020204" charset="-122"/>
              </a:rPr>
              <a:t>6</a:t>
            </a:r>
            <a:r>
              <a:rPr lang="zh-CN" altLang="en-US">
                <a:ea typeface="Microsoft YaHei UI" panose="020B0503020204020204" charset="-122"/>
              </a:rPr>
              <a:t>。</a:t>
            </a:r>
            <a:r>
              <a:rPr lang="en-US" altLang="zh-CN">
                <a:ea typeface="Microsoft YaHei UI" panose="020B0503020204020204" charset="-122"/>
              </a:rPr>
              <a:t>https://istqb.org/wp-content/uploads/2024/11/ISTQB_CTFL_Syllabus_v4.0.1.pdf</a:t>
            </a:r>
            <a:endParaRPr lang="en-US" altLang="zh-CN">
              <a:ea typeface="Microsoft YaHei UI" panose="020B0503020204020204" charset="-122"/>
            </a:endParaRPr>
          </a:p>
          <a:p>
            <a:r>
              <a:rPr lang="en-US" altLang="zh-CN">
                <a:ea typeface="Microsoft YaHei UI" panose="020B0503020204020204" charset="-122"/>
              </a:rPr>
              <a:t>Serenity Page Objects</a:t>
            </a:r>
            <a:r>
              <a:rPr lang="zh-CN" altLang="en-US">
                <a:ea typeface="Microsoft YaHei UI" panose="020B0503020204020204" charset="-122"/>
              </a:rPr>
              <a:t>：</a:t>
            </a:r>
            <a:r>
              <a:rPr lang="en-US" altLang="zh-CN">
                <a:ea typeface="Microsoft YaHei UI" panose="020B0503020204020204" charset="-122"/>
              </a:rPr>
              <a:t>https://serenity-bdd.github.io/docs/guide/page_objects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zh-CN" altLang="zh-CN">
                <a:ea typeface="Microsoft YaHei UI" panose="020B0503020204020204" charset="-122"/>
              </a:rPr>
              <a:t>四个步骤是一条可重复检查的执行过程。</a:t>
            </a:r>
            <a:r>
              <a:rPr lang="en-US" altLang="zh-CN">
                <a:ea typeface="Microsoft YaHei UI" panose="020B0503020204020204" charset="-122"/>
              </a:rPr>
              <a:t>Prepare </a:t>
            </a:r>
            <a:r>
              <a:rPr lang="zh-CN" altLang="en-US">
                <a:ea typeface="Microsoft YaHei UI" panose="020B0503020204020204" charset="-122"/>
              </a:rPr>
              <a:t>的</a:t>
            </a:r>
            <a:r>
              <a:rPr lang="en-US" altLang="zh-CN">
                <a:ea typeface="Microsoft YaHei UI" panose="020B0503020204020204" charset="-122"/>
              </a:rPr>
              <a:t> fixture </a:t>
            </a:r>
            <a:r>
              <a:rPr lang="zh-CN" altLang="en-US">
                <a:ea typeface="Microsoft YaHei UI" panose="020B0503020204020204" charset="-122"/>
              </a:rPr>
              <a:t>是建立初始状态的辅助代码，不只是固定的一组数据。</a:t>
            </a:r>
            <a:r>
              <a:rPr lang="en-US" altLang="zh-CN">
                <a:ea typeface="Microsoft YaHei UI" panose="020B0503020204020204" charset="-122"/>
              </a:rPr>
              <a:t>Execute </a:t>
            </a:r>
            <a:r>
              <a:rPr lang="zh-CN" altLang="en-US">
                <a:ea typeface="Microsoft YaHei UI" panose="020B0503020204020204" charset="-122"/>
              </a:rPr>
              <a:t>将具体操作封装成方法，等待应以元素可用或业务状态更新为条件。</a:t>
            </a:r>
            <a:r>
              <a:rPr lang="en-US" altLang="zh-CN">
                <a:ea typeface="Microsoft YaHei UI" panose="020B0503020204020204" charset="-122"/>
              </a:rPr>
              <a:t>Assert </a:t>
            </a:r>
            <a:r>
              <a:rPr lang="zh-CN" altLang="en-US">
                <a:ea typeface="Microsoft YaHei UI" panose="020B0503020204020204" charset="-122"/>
              </a:rPr>
              <a:t>的</a:t>
            </a:r>
            <a:r>
              <a:rPr lang="en-US" altLang="zh-CN">
                <a:ea typeface="Microsoft YaHei UI" panose="020B0503020204020204" charset="-122"/>
              </a:rPr>
              <a:t> expected </a:t>
            </a:r>
            <a:r>
              <a:rPr lang="zh-CN" altLang="en-US">
                <a:ea typeface="Microsoft YaHei UI" panose="020B0503020204020204" charset="-122"/>
              </a:rPr>
              <a:t>由需求提供：假如显示成功提示，但重新读取后记录未保存，用例仍应失败。</a:t>
            </a:r>
            <a:r>
              <a:rPr lang="en-US" altLang="zh-CN">
                <a:ea typeface="Microsoft YaHei UI" panose="020B0503020204020204" charset="-122"/>
              </a:rPr>
              <a:t>Report </a:t>
            </a:r>
            <a:r>
              <a:rPr lang="zh-CN" altLang="en-US">
                <a:ea typeface="Microsoft YaHei UI" panose="020B0503020204020204" charset="-122"/>
              </a:rPr>
              <a:t>的证据用于解释失败原因；</a:t>
            </a:r>
            <a:r>
              <a:rPr lang="en-US" altLang="zh-CN">
                <a:ea typeface="Microsoft YaHei UI" panose="020B0503020204020204" charset="-122"/>
              </a:rPr>
              <a:t>flaky test </a:t>
            </a:r>
            <a:r>
              <a:rPr lang="zh-CN" altLang="en-US">
                <a:ea typeface="Microsoft YaHei UI" panose="020B0503020204020204" charset="-122"/>
              </a:rPr>
              <a:t>指相同检查在相同代码等条件下有时通过、有时失败。应调查数据、等待、环境或产品中的不确定行为，再决定修复，而不是不断</a:t>
            </a:r>
            <a:r>
              <a:rPr lang="en-US" altLang="zh-CN">
                <a:ea typeface="Microsoft YaHei UI" panose="020B0503020204020204" charset="-122"/>
              </a:rPr>
              <a:t> retry</a:t>
            </a:r>
            <a:r>
              <a:rPr lang="zh-CN" altLang="en-US">
                <a:ea typeface="Microsoft YaHei UI" panose="020B0503020204020204" charset="-122"/>
              </a:rPr>
              <a:t>。</a:t>
            </a:r>
            <a:endParaRPr lang="zh-CN" altLang="en-US">
              <a:ea typeface="Microsoft YaHei UI" panose="020B0503020204020204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>
                <a:ea typeface="Microsoft YaHei UI" panose="020B0503020204020204" charset="-122"/>
              </a:rPr>
              <a:t>Regression Testing </a:t>
            </a:r>
            <a:r>
              <a:rPr lang="zh-CN" altLang="en-US">
                <a:ea typeface="Microsoft YaHei UI" panose="020B0503020204020204" charset="-122"/>
              </a:rPr>
              <a:t>是在代码、配置、依赖或环境变更后，检查应该保持的行为是否仍然正常。它不只针对</a:t>
            </a:r>
            <a:r>
              <a:rPr lang="en-US" altLang="zh-CN">
                <a:ea typeface="Microsoft YaHei UI" panose="020B0503020204020204" charset="-122"/>
              </a:rPr>
              <a:t> bug fix</a:t>
            </a:r>
            <a:r>
              <a:rPr lang="zh-CN" altLang="en-US">
                <a:ea typeface="Microsoft YaHei UI" panose="020B0503020204020204" charset="-122"/>
              </a:rPr>
              <a:t>，新功能、</a:t>
            </a:r>
            <a:r>
              <a:rPr lang="en-US" altLang="zh-CN">
                <a:ea typeface="Microsoft YaHei UI" panose="020B0503020204020204" charset="-122"/>
              </a:rPr>
              <a:t>refactoring </a:t>
            </a:r>
            <a:r>
              <a:rPr lang="zh-CN" altLang="en-US">
                <a:ea typeface="Microsoft YaHei UI" panose="020B0503020204020204" charset="-122"/>
              </a:rPr>
              <a:t>和版本升级都可能需要回归。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en-US" altLang="zh-CN">
                <a:ea typeface="Microsoft YaHei UI" panose="020B0503020204020204" charset="-122"/>
              </a:rPr>
              <a:t>Confirmation</a:t>
            </a:r>
            <a:r>
              <a:rPr lang="zh-CN" altLang="en-US">
                <a:ea typeface="Microsoft YaHei UI" panose="020B0503020204020204" charset="-122"/>
              </a:rPr>
              <a:t>，也就是</a:t>
            </a:r>
            <a:r>
              <a:rPr lang="en-US" altLang="zh-CN">
                <a:ea typeface="Microsoft YaHei UI" panose="020B0503020204020204" charset="-122"/>
              </a:rPr>
              <a:t> retest</a:t>
            </a:r>
            <a:r>
              <a:rPr lang="zh-CN" altLang="en-US">
                <a:ea typeface="Microsoft YaHei UI" panose="020B0503020204020204" charset="-122"/>
              </a:rPr>
              <a:t>，关注原来那个缺陷是否修好。</a:t>
            </a:r>
            <a:r>
              <a:rPr lang="en-US" altLang="zh-CN">
                <a:ea typeface="Microsoft YaHei UI" panose="020B0503020204020204" charset="-122"/>
              </a:rPr>
              <a:t>Regression </a:t>
            </a:r>
            <a:r>
              <a:rPr lang="zh-CN" altLang="en-US">
                <a:ea typeface="Microsoft YaHei UI" panose="020B0503020204020204" charset="-122"/>
              </a:rPr>
              <a:t>的范围更广，要看这次修改有没有影响其他行为。</a:t>
            </a:r>
            <a:r>
              <a:rPr lang="en-US" altLang="zh-CN">
                <a:ea typeface="Microsoft YaHei UI" panose="020B0503020204020204" charset="-122"/>
              </a:rPr>
              <a:t>Smoke </a:t>
            </a:r>
            <a:r>
              <a:rPr lang="zh-CN" altLang="en-US">
                <a:ea typeface="Microsoft YaHei UI" panose="020B0503020204020204" charset="-122"/>
              </a:rPr>
              <a:t>则是用短小的关键检查确认当前构建基本可用，值得继续测试。</a:t>
            </a:r>
            <a:r>
              <a:rPr lang="en-US" altLang="zh-CN">
                <a:ea typeface="Microsoft YaHei UI" panose="020B0503020204020204" charset="-122"/>
              </a:rPr>
              <a:t>Smoke </a:t>
            </a:r>
            <a:r>
              <a:rPr lang="zh-CN" altLang="en-US">
                <a:ea typeface="Microsoft YaHei UI" panose="020B0503020204020204" charset="-122"/>
              </a:rPr>
              <a:t>的具体范围由团队定义。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zh-CN" altLang="zh-CN">
                <a:ea typeface="Microsoft YaHei UI" panose="020B0503020204020204" charset="-122"/>
              </a:rPr>
              <a:t>右边的表把测试目的和执行方式分开。回归可以手工做，也可以让代码自动跑。自动化也可以检查新功能。一条原本验证新需求的测试，在以后重跑时，也可以承担</a:t>
            </a:r>
            <a:r>
              <a:rPr lang="en-US" altLang="zh-CN">
                <a:ea typeface="Microsoft YaHei UI" panose="020B0503020204020204" charset="-122"/>
              </a:rPr>
              <a:t> regression </a:t>
            </a:r>
            <a:r>
              <a:rPr lang="zh-CN" altLang="en-US">
                <a:ea typeface="Microsoft YaHei UI" panose="020B0503020204020204" charset="-122"/>
              </a:rPr>
              <a:t>的作用。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zh-CN" altLang="zh-CN">
                <a:ea typeface="Microsoft YaHei UI" panose="020B0503020204020204" charset="-122"/>
              </a:rPr>
              <a:t>确定回归范围时，先看改了哪些模块，再检查调用方、共享逻辑和连接的系统。可以只跑相关集合，也可以按约定运行完整</a:t>
            </a:r>
            <a:r>
              <a:rPr lang="en-US" altLang="zh-CN">
                <a:ea typeface="Microsoft YaHei UI" panose="020B0503020204020204" charset="-122"/>
              </a:rPr>
              <a:t> regression suite</a:t>
            </a:r>
            <a:r>
              <a:rPr lang="zh-CN" altLang="en-US">
                <a:ea typeface="Microsoft YaHei UI" panose="020B0503020204020204" charset="-122"/>
              </a:rPr>
              <a:t>。</a:t>
            </a:r>
            <a:r>
              <a:rPr lang="en-US" altLang="zh-CN">
                <a:ea typeface="Microsoft YaHei UI" panose="020B0503020204020204" charset="-122"/>
              </a:rPr>
              <a:t>Full regression </a:t>
            </a:r>
            <a:r>
              <a:rPr lang="zh-CN" altLang="en-US">
                <a:ea typeface="Microsoft YaHei UI" panose="020B0503020204020204" charset="-122"/>
              </a:rPr>
              <a:t>代表团队定义的集合，不代表穷尽所有输入。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zh-CN" altLang="zh-CN">
                <a:ea typeface="Microsoft YaHei UI" panose="020B0503020204020204" charset="-122"/>
              </a:rPr>
              <a:t>本地和</a:t>
            </a:r>
            <a:r>
              <a:rPr lang="en-US" altLang="zh-CN">
                <a:ea typeface="Microsoft YaHei UI" panose="020B0503020204020204" charset="-122"/>
              </a:rPr>
              <a:t> PR </a:t>
            </a:r>
            <a:r>
              <a:rPr lang="zh-CN" altLang="en-US">
                <a:ea typeface="Microsoft YaHei UI" panose="020B0503020204020204" charset="-122"/>
              </a:rPr>
              <a:t>通常需要较快的反馈，部署后可以先</a:t>
            </a:r>
            <a:r>
              <a:rPr lang="en-US" altLang="zh-CN">
                <a:ea typeface="Microsoft YaHei UI" panose="020B0503020204020204" charset="-122"/>
              </a:rPr>
              <a:t> smoke</a:t>
            </a:r>
            <a:r>
              <a:rPr lang="zh-CN" altLang="en-US">
                <a:ea typeface="Microsoft YaHei UI" panose="020B0503020204020204" charset="-122"/>
              </a:rPr>
              <a:t>，再执行相应回归。更广的集合可以放在</a:t>
            </a:r>
            <a:r>
              <a:rPr lang="en-US" altLang="zh-CN">
                <a:ea typeface="Microsoft YaHei UI" panose="020B0503020204020204" charset="-122"/>
              </a:rPr>
              <a:t> nightly </a:t>
            </a:r>
            <a:r>
              <a:rPr lang="zh-CN" altLang="en-US">
                <a:ea typeface="Microsoft YaHei UI" panose="020B0503020204020204" charset="-122"/>
              </a:rPr>
              <a:t>或</a:t>
            </a:r>
            <a:r>
              <a:rPr lang="en-US" altLang="zh-CN">
                <a:ea typeface="Microsoft YaHei UI" panose="020B0503020204020204" charset="-122"/>
              </a:rPr>
              <a:t> release </a:t>
            </a:r>
            <a:r>
              <a:rPr lang="zh-CN" altLang="en-US">
                <a:ea typeface="Microsoft YaHei UI" panose="020B0503020204020204" charset="-122"/>
              </a:rPr>
              <a:t>检查里，具体按运行成本与风险安排。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zh-CN" altLang="zh-CN">
                <a:ea typeface="Microsoft YaHei UI" panose="020B0503020204020204" charset="-122"/>
              </a:rPr>
              <a:t>参考：</a:t>
            </a:r>
            <a:r>
              <a:rPr lang="en-US" altLang="zh-CN">
                <a:ea typeface="Microsoft YaHei UI" panose="020B0503020204020204" charset="-122"/>
              </a:rPr>
              <a:t>ISTQB CTFL </a:t>
            </a:r>
            <a:r>
              <a:rPr lang="zh-CN" altLang="en-US">
                <a:ea typeface="Microsoft YaHei UI" panose="020B0503020204020204" charset="-122"/>
              </a:rPr>
              <a:t>§</a:t>
            </a:r>
            <a:r>
              <a:rPr lang="en-US" altLang="zh-CN">
                <a:ea typeface="Microsoft YaHei UI" panose="020B0503020204020204" charset="-122"/>
              </a:rPr>
              <a:t>2.2.3</a:t>
            </a:r>
            <a:r>
              <a:rPr lang="zh-CN" altLang="en-US">
                <a:ea typeface="Microsoft YaHei UI" panose="020B0503020204020204" charset="-122"/>
              </a:rPr>
              <a:t>、§</a:t>
            </a:r>
            <a:r>
              <a:rPr lang="en-US" altLang="zh-CN">
                <a:ea typeface="Microsoft YaHei UI" panose="020B0503020204020204" charset="-122"/>
              </a:rPr>
              <a:t>2.3</a:t>
            </a:r>
            <a:r>
              <a:rPr lang="zh-CN" altLang="en-US">
                <a:ea typeface="Microsoft YaHei UI" panose="020B0503020204020204" charset="-122"/>
              </a:rPr>
              <a:t>。</a:t>
            </a:r>
            <a:r>
              <a:rPr lang="en-US" altLang="zh-CN">
                <a:ea typeface="Microsoft YaHei UI" panose="020B0503020204020204" charset="-122"/>
              </a:rPr>
              <a:t>https://istqb.org/wp-content/uploads/2024/11/ISTQB_CTFL_Syllabus_v4.0.1.pdf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zh-CN" altLang="zh-CN">
                <a:ea typeface="Microsoft YaHei UI" panose="020B0503020204020204" charset="-122"/>
              </a:rPr>
              <a:t>用一次空值</a:t>
            </a:r>
            <a:r>
              <a:rPr lang="en-US" altLang="zh-CN">
                <a:ea typeface="Microsoft YaHei UI" panose="020B0503020204020204" charset="-122"/>
              </a:rPr>
              <a:t> bug fix </a:t>
            </a:r>
            <a:r>
              <a:rPr lang="zh-CN" altLang="en-US">
                <a:ea typeface="Microsoft YaHei UI" panose="020B0503020204020204" charset="-122"/>
              </a:rPr>
              <a:t>对照三者：</a:t>
            </a:r>
            <a:r>
              <a:rPr lang="en-US" altLang="zh-CN">
                <a:ea typeface="Microsoft YaHei UI" panose="020B0503020204020204" charset="-122"/>
              </a:rPr>
              <a:t>Retest </a:t>
            </a:r>
            <a:r>
              <a:rPr lang="zh-CN" altLang="en-US">
                <a:ea typeface="Microsoft YaHei UI" panose="020B0503020204020204" charset="-122"/>
              </a:rPr>
              <a:t>重跑空值场景，确认原先错误接受空值的问题被修复；</a:t>
            </a:r>
            <a:r>
              <a:rPr lang="en-US" altLang="zh-CN">
                <a:ea typeface="Microsoft YaHei UI" panose="020B0503020204020204" charset="-122"/>
              </a:rPr>
              <a:t>Regression </a:t>
            </a:r>
            <a:r>
              <a:rPr lang="zh-CN" altLang="en-US">
                <a:ea typeface="Microsoft YaHei UI" panose="020B0503020204020204" charset="-122"/>
              </a:rPr>
              <a:t>同时检查合法输入仍能保存，以及共享校验逻辑的其他调用方仍正常；</a:t>
            </a:r>
            <a:r>
              <a:rPr lang="en-US" altLang="zh-CN">
                <a:ea typeface="Microsoft YaHei UI" panose="020B0503020204020204" charset="-122"/>
              </a:rPr>
              <a:t>Smoke </a:t>
            </a:r>
            <a:r>
              <a:rPr lang="zh-CN" altLang="en-US">
                <a:ea typeface="Microsoft YaHei UI" panose="020B0503020204020204" charset="-122"/>
              </a:rPr>
              <a:t>先确认能登录、打开页面和完成选定的主要操作，判断构建是否值得继续测试。三个集合可以重叠，区别主要在本次执行要回答什么问题。</a:t>
            </a:r>
            <a:endParaRPr lang="zh-CN" altLang="en-US">
              <a:ea typeface="Microsoft YaHei UI" panose="020B0503020204020204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ea typeface="Microsoft YaHei UI" panose="020B0503020204020204" charset="-122"/>
              </a:rPr>
              <a:t>写自动化前，要先把</a:t>
            </a:r>
            <a:r>
              <a:rPr lang="en-US" altLang="zh-CN">
                <a:ea typeface="Microsoft YaHei UI" panose="020B0503020204020204" charset="-122"/>
              </a:rPr>
              <a:t> case </a:t>
            </a:r>
            <a:r>
              <a:rPr lang="zh-CN" altLang="en-US">
                <a:ea typeface="Microsoft YaHei UI" panose="020B0503020204020204" charset="-122"/>
              </a:rPr>
              <a:t>设计好。这里有几个常用的方法。边界值检查规则切换的地方，例如允许长度的最小值、最大值，以及边界前后一个单位。等价类则把预计行为相似的输入放在同一组，避免只是随机选很多数据。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zh-CN" altLang="zh-CN">
                <a:ea typeface="Microsoft YaHei UI" panose="020B0503020204020204" charset="-122"/>
              </a:rPr>
              <a:t>条件组合适合用</a:t>
            </a:r>
            <a:r>
              <a:rPr lang="en-US" altLang="zh-CN">
                <a:ea typeface="Microsoft YaHei UI" panose="020B0503020204020204" charset="-122"/>
              </a:rPr>
              <a:t> decision table</a:t>
            </a:r>
            <a:r>
              <a:rPr lang="zh-CN" altLang="en-US">
                <a:ea typeface="Microsoft YaHei UI" panose="020B0503020204020204" charset="-122"/>
              </a:rPr>
              <a:t>。多个条件一起决定结果时，要列出哪些组合允许、哪些拒绝，而不是只测一个成功例子。</a:t>
            </a:r>
            <a:r>
              <a:rPr lang="en-US" altLang="zh-CN">
                <a:ea typeface="Microsoft YaHei UI" panose="020B0503020204020204" charset="-122"/>
              </a:rPr>
              <a:t>State transition testing </a:t>
            </a:r>
            <a:r>
              <a:rPr lang="zh-CN" altLang="en-US">
                <a:ea typeface="Microsoft YaHei UI" panose="020B0503020204020204" charset="-122"/>
              </a:rPr>
              <a:t>关注某个状态能执行哪些动作，以及动作后应该进入什么状态。也要测试不允许的转换。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en-US" altLang="zh-CN">
                <a:ea typeface="Microsoft YaHei UI" panose="020B0503020204020204" charset="-122"/>
              </a:rPr>
              <a:t>Regression scope </a:t>
            </a:r>
            <a:r>
              <a:rPr lang="zh-CN" altLang="en-US">
                <a:ea typeface="Microsoft YaHei UI" panose="020B0503020204020204" charset="-122"/>
              </a:rPr>
              <a:t>需要结合这次修改决定。局部判断尽量在</a:t>
            </a:r>
            <a:r>
              <a:rPr lang="en-US" altLang="zh-CN">
                <a:ea typeface="Microsoft YaHei UI" panose="020B0503020204020204" charset="-122"/>
              </a:rPr>
              <a:t> unit tests </a:t>
            </a:r>
            <a:r>
              <a:rPr lang="zh-CN" altLang="en-US">
                <a:ea typeface="Microsoft YaHei UI" panose="020B0503020204020204" charset="-122"/>
              </a:rPr>
              <a:t>快速检查，</a:t>
            </a:r>
            <a:r>
              <a:rPr lang="en-US" altLang="zh-CN">
                <a:ea typeface="Microsoft YaHei UI" panose="020B0503020204020204" charset="-122"/>
              </a:rPr>
              <a:t>API </a:t>
            </a:r>
            <a:r>
              <a:rPr lang="zh-CN" altLang="en-US">
                <a:ea typeface="Microsoft YaHei UI" panose="020B0503020204020204" charset="-122"/>
              </a:rPr>
              <a:t>或</a:t>
            </a:r>
            <a:r>
              <a:rPr lang="en-US" altLang="zh-CN">
                <a:ea typeface="Microsoft YaHei UI" panose="020B0503020204020204" charset="-122"/>
              </a:rPr>
              <a:t> integration tests </a:t>
            </a:r>
            <a:r>
              <a:rPr lang="zh-CN" altLang="en-US">
                <a:ea typeface="Microsoft YaHei UI" panose="020B0503020204020204" charset="-122"/>
              </a:rPr>
              <a:t>检查接口与协作，</a:t>
            </a:r>
            <a:r>
              <a:rPr lang="en-US" altLang="zh-CN">
                <a:ea typeface="Microsoft YaHei UI" panose="020B0503020204020204" charset="-122"/>
              </a:rPr>
              <a:t>UI </a:t>
            </a:r>
            <a:r>
              <a:rPr lang="zh-CN" altLang="en-US">
                <a:ea typeface="Microsoft YaHei UI" panose="020B0503020204020204" charset="-122"/>
              </a:rPr>
              <a:t>和少量完整</a:t>
            </a:r>
            <a:r>
              <a:rPr lang="en-US" altLang="zh-CN">
                <a:ea typeface="Microsoft YaHei UI" panose="020B0503020204020204" charset="-122"/>
              </a:rPr>
              <a:t> E2E </a:t>
            </a:r>
            <a:r>
              <a:rPr lang="zh-CN" altLang="en-US">
                <a:ea typeface="Microsoft YaHei UI" panose="020B0503020204020204" charset="-122"/>
              </a:rPr>
              <a:t>检查用户流程和系统配合。</a:t>
            </a:r>
            <a:r>
              <a:rPr lang="en-US" altLang="zh-CN">
                <a:ea typeface="Microsoft YaHei UI" panose="020B0503020204020204" charset="-122"/>
              </a:rPr>
              <a:t>API-first </a:t>
            </a:r>
            <a:r>
              <a:rPr lang="zh-CN" altLang="en-US">
                <a:ea typeface="Microsoft YaHei UI" panose="020B0503020204020204" charset="-122"/>
              </a:rPr>
              <a:t>或测试金字塔是组织测试的思路，不是固定比例。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zh-CN" altLang="zh-CN">
                <a:ea typeface="Microsoft YaHei UI" panose="020B0503020204020204" charset="-122"/>
              </a:rPr>
              <a:t>每条场景要能独立运行。对异步结果，等待一个明确条件并设置</a:t>
            </a:r>
            <a:r>
              <a:rPr lang="en-US" altLang="zh-CN">
                <a:ea typeface="Microsoft YaHei UI" panose="020B0503020204020204" charset="-122"/>
              </a:rPr>
              <a:t> timeout</a:t>
            </a:r>
            <a:r>
              <a:rPr lang="zh-CN" altLang="en-US">
                <a:ea typeface="Microsoft YaHei UI" panose="020B0503020204020204" charset="-122"/>
              </a:rPr>
              <a:t>。跑完要看实际场景数、跳过和失败原因，不能只看一个绿色图标。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zh-CN" altLang="zh-CN">
                <a:ea typeface="Microsoft YaHei UI" panose="020B0503020204020204" charset="-122"/>
              </a:rPr>
              <a:t>参考：</a:t>
            </a:r>
            <a:r>
              <a:rPr lang="en-US" altLang="zh-CN">
                <a:ea typeface="Microsoft YaHei UI" panose="020B0503020204020204" charset="-122"/>
              </a:rPr>
              <a:t>ISTQB CTFL </a:t>
            </a:r>
            <a:r>
              <a:rPr lang="zh-CN" altLang="en-US">
                <a:ea typeface="Microsoft YaHei UI" panose="020B0503020204020204" charset="-122"/>
              </a:rPr>
              <a:t>§</a:t>
            </a:r>
            <a:r>
              <a:rPr lang="en-US" altLang="zh-CN">
                <a:ea typeface="Microsoft YaHei UI" panose="020B0503020204020204" charset="-122"/>
              </a:rPr>
              <a:t>4</a:t>
            </a:r>
            <a:r>
              <a:rPr lang="zh-CN" altLang="en-US">
                <a:ea typeface="Microsoft YaHei UI" panose="020B0503020204020204" charset="-122"/>
              </a:rPr>
              <a:t>、§</a:t>
            </a:r>
            <a:r>
              <a:rPr lang="en-US" altLang="zh-CN">
                <a:ea typeface="Microsoft YaHei UI" panose="020B0503020204020204" charset="-122"/>
              </a:rPr>
              <a:t>5</a:t>
            </a:r>
            <a:r>
              <a:rPr lang="zh-CN" altLang="en-US">
                <a:ea typeface="Microsoft YaHei UI" panose="020B0503020204020204" charset="-122"/>
              </a:rPr>
              <a:t>。</a:t>
            </a:r>
            <a:r>
              <a:rPr lang="en-US" altLang="zh-CN">
                <a:ea typeface="Microsoft YaHei UI" panose="020B0503020204020204" charset="-122"/>
              </a:rPr>
              <a:t>https://istqb.org/wp-content/uploads/2024/11/ISTQB_CTFL_Syllabus_v4.0.1.pdf</a:t>
            </a:r>
            <a:endParaRPr lang="en-US" altLang="zh-CN">
              <a:ea typeface="Microsoft YaHei UI" panose="020B0503020204020204" charset="-122"/>
            </a:endParaRPr>
          </a:p>
          <a:p>
            <a:r>
              <a:rPr lang="en-US" altLang="zh-CN">
                <a:ea typeface="Microsoft YaHei UI" panose="020B0503020204020204" charset="-122"/>
              </a:rPr>
              <a:t>The Practical Test Pyramid</a:t>
            </a:r>
            <a:r>
              <a:rPr lang="zh-CN" altLang="en-US">
                <a:ea typeface="Microsoft YaHei UI" panose="020B0503020204020204" charset="-122"/>
              </a:rPr>
              <a:t>：</a:t>
            </a:r>
            <a:r>
              <a:rPr lang="en-US" altLang="zh-CN">
                <a:ea typeface="Microsoft YaHei UI" panose="020B0503020204020204" charset="-122"/>
              </a:rPr>
              <a:t>https://www.martinfowler.com/articles/practical-test-pyramid.html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zh-CN" altLang="zh-CN">
                <a:ea typeface="Microsoft YaHei UI" panose="020B0503020204020204" charset="-122"/>
              </a:rPr>
              <a:t>状态迁移检查需要覆盖操作后的结果。合法操作应该产生规定的目标状态；非法操作应该被拒绝，并保持原状态及需求要求的其他数据。决定回归范围时，要追踪改动怎样影响调用方，而不只是寻找同名文件。将局部规则放在</a:t>
            </a:r>
            <a:r>
              <a:rPr lang="en-US" altLang="zh-CN">
                <a:ea typeface="Microsoft YaHei UI" panose="020B0503020204020204" charset="-122"/>
              </a:rPr>
              <a:t> unit</a:t>
            </a:r>
            <a:r>
              <a:rPr lang="zh-CN" altLang="en-US">
                <a:ea typeface="Microsoft YaHei UI" panose="020B0503020204020204" charset="-122"/>
              </a:rPr>
              <a:t>、接口协作放在</a:t>
            </a:r>
            <a:r>
              <a:rPr lang="en-US" altLang="zh-CN">
                <a:ea typeface="Microsoft YaHei UI" panose="020B0503020204020204" charset="-122"/>
              </a:rPr>
              <a:t> API </a:t>
            </a:r>
            <a:r>
              <a:rPr lang="zh-CN" altLang="en-US">
                <a:ea typeface="Microsoft YaHei UI" panose="020B0503020204020204" charset="-122"/>
              </a:rPr>
              <a:t>或</a:t>
            </a:r>
            <a:r>
              <a:rPr lang="en-US" altLang="zh-CN">
                <a:ea typeface="Microsoft YaHei UI" panose="020B0503020204020204" charset="-122"/>
              </a:rPr>
              <a:t> integration</a:t>
            </a:r>
            <a:r>
              <a:rPr lang="zh-CN" altLang="en-US">
                <a:ea typeface="Microsoft YaHei UI" panose="020B0503020204020204" charset="-122"/>
              </a:rPr>
              <a:t>、少量完整路径放在</a:t>
            </a:r>
            <a:r>
              <a:rPr lang="en-US" altLang="zh-CN">
                <a:ea typeface="Microsoft YaHei UI" panose="020B0503020204020204" charset="-122"/>
              </a:rPr>
              <a:t> UI </a:t>
            </a:r>
            <a:r>
              <a:rPr lang="zh-CN" altLang="en-US">
                <a:ea typeface="Microsoft YaHei UI" panose="020B0503020204020204" charset="-122"/>
              </a:rPr>
              <a:t>或</a:t>
            </a:r>
            <a:r>
              <a:rPr lang="en-US" altLang="zh-CN">
                <a:ea typeface="Microsoft YaHei UI" panose="020B0503020204020204" charset="-122"/>
              </a:rPr>
              <a:t> E2E</a:t>
            </a:r>
            <a:r>
              <a:rPr lang="zh-CN" altLang="en-US">
                <a:ea typeface="Microsoft YaHei UI" panose="020B0503020204020204" charset="-122"/>
              </a:rPr>
              <a:t>，可以减少重复又保留不同层次的检查。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zh-CN" altLang="zh-CN">
                <a:ea typeface="Microsoft YaHei UI" panose="020B0503020204020204" charset="-122"/>
              </a:rPr>
              <a:t>数量范围</a:t>
            </a:r>
            <a:r>
              <a:rPr lang="en-US" altLang="zh-CN">
                <a:ea typeface="Microsoft YaHei UI" panose="020B0503020204020204" charset="-122"/>
              </a:rPr>
              <a:t> 1–100 </a:t>
            </a:r>
            <a:r>
              <a:rPr lang="zh-CN" altLang="en-US">
                <a:ea typeface="Microsoft YaHei UI" panose="020B0503020204020204" charset="-122"/>
              </a:rPr>
              <a:t>是教学规则。检查</a:t>
            </a:r>
            <a:r>
              <a:rPr lang="en-US" altLang="zh-CN">
                <a:ea typeface="Microsoft YaHei UI" panose="020B0503020204020204" charset="-122"/>
              </a:rPr>
              <a:t> 0/1/2 </a:t>
            </a:r>
            <a:r>
              <a:rPr lang="zh-CN" altLang="en-US">
                <a:ea typeface="Microsoft YaHei UI" panose="020B0503020204020204" charset="-122"/>
              </a:rPr>
              <a:t>与</a:t>
            </a:r>
            <a:r>
              <a:rPr lang="en-US" altLang="zh-CN">
                <a:ea typeface="Microsoft YaHei UI" panose="020B0503020204020204" charset="-122"/>
              </a:rPr>
              <a:t> 99/100/101</a:t>
            </a:r>
            <a:r>
              <a:rPr lang="zh-CN" altLang="en-US">
                <a:ea typeface="Microsoft YaHei UI" panose="020B0503020204020204" charset="-122"/>
              </a:rPr>
              <a:t>，验证合法边界及其前后输入。</a:t>
            </a:r>
            <a:r>
              <a:rPr lang="en-US" altLang="zh-CN">
                <a:ea typeface="Microsoft YaHei UI" panose="020B0503020204020204" charset="-122"/>
              </a:rPr>
              <a:t>isValid </a:t>
            </a:r>
            <a:r>
              <a:rPr lang="zh-CN" altLang="en-US">
                <a:ea typeface="Microsoft YaHei UI" panose="020B0503020204020204" charset="-122"/>
              </a:rPr>
              <a:t>与</a:t>
            </a:r>
            <a:r>
              <a:rPr lang="en-US" altLang="zh-CN">
                <a:ea typeface="Microsoft YaHei UI" panose="020B0503020204020204" charset="-122"/>
              </a:rPr>
              <a:t> assertFalse </a:t>
            </a:r>
            <a:r>
              <a:rPr lang="zh-CN" altLang="en-US">
                <a:ea typeface="Microsoft YaHei UI" panose="020B0503020204020204" charset="-122"/>
              </a:rPr>
              <a:t>片段用于解释断言，尚未实现或执行。</a:t>
            </a:r>
            <a:r>
              <a:rPr lang="en-US" altLang="zh-CN">
                <a:ea typeface="Microsoft YaHei UI" panose="020B0503020204020204" charset="-122"/>
              </a:rPr>
              <a:t>Draft </a:t>
            </a:r>
            <a:r>
              <a:rPr lang="zh-CN" altLang="en-US">
                <a:ea typeface="Microsoft YaHei UI" panose="020B0503020204020204" charset="-122"/>
              </a:rPr>
              <a:t>与</a:t>
            </a:r>
            <a:r>
              <a:rPr lang="en-US" altLang="zh-CN">
                <a:ea typeface="Microsoft YaHei UI" panose="020B0503020204020204" charset="-122"/>
              </a:rPr>
              <a:t> Submitted </a:t>
            </a:r>
            <a:r>
              <a:rPr lang="zh-CN" altLang="en-US">
                <a:ea typeface="Microsoft YaHei UI" panose="020B0503020204020204" charset="-122"/>
              </a:rPr>
              <a:t>的动作限制也以实际需求为准。</a:t>
            </a:r>
            <a:endParaRPr lang="zh-CN" altLang="en-US">
              <a:ea typeface="Microsoft YaHei UI" panose="020B0503020204020204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>
                <a:ea typeface="Microsoft YaHei UI" panose="020B0503020204020204" charset="-122"/>
              </a:rPr>
              <a:t>BDD </a:t>
            </a:r>
            <a:r>
              <a:rPr lang="zh-CN" altLang="en-US">
                <a:ea typeface="Microsoft YaHei UI" panose="020B0503020204020204" charset="-122"/>
              </a:rPr>
              <a:t>的简单理解是：先把什么情况下做什么、应该看到什么结果说清楚，再用具体例子记录下来，最后把它接到自动化代码。和</a:t>
            </a:r>
            <a:r>
              <a:rPr lang="en-US" altLang="zh-CN">
                <a:ea typeface="Microsoft YaHei UI" panose="020B0503020204020204" charset="-122"/>
              </a:rPr>
              <a:t> QA </a:t>
            </a:r>
            <a:r>
              <a:rPr lang="zh-CN" altLang="en-US">
                <a:ea typeface="Microsoft YaHei UI" panose="020B0503020204020204" charset="-122"/>
              </a:rPr>
              <a:t>或业务同事讨论例子，可以帮助我们发现规则中还没说清的地方。这对应</a:t>
            </a:r>
            <a:r>
              <a:rPr lang="en-US" altLang="zh-CN">
                <a:ea typeface="Microsoft YaHei UI" panose="020B0503020204020204" charset="-122"/>
              </a:rPr>
              <a:t> Discovery</a:t>
            </a:r>
            <a:r>
              <a:rPr lang="zh-CN" altLang="en-US">
                <a:ea typeface="Microsoft YaHei UI" panose="020B0503020204020204" charset="-122"/>
              </a:rPr>
              <a:t>、</a:t>
            </a:r>
            <a:r>
              <a:rPr lang="en-US" altLang="zh-CN">
                <a:ea typeface="Microsoft YaHei UI" panose="020B0503020204020204" charset="-122"/>
              </a:rPr>
              <a:t>Formulation </a:t>
            </a:r>
            <a:r>
              <a:rPr lang="zh-CN" altLang="en-US">
                <a:ea typeface="Microsoft YaHei UI" panose="020B0503020204020204" charset="-122"/>
              </a:rPr>
              <a:t>和</a:t>
            </a:r>
            <a:r>
              <a:rPr lang="en-US" altLang="zh-CN">
                <a:ea typeface="Microsoft YaHei UI" panose="020B0503020204020204" charset="-122"/>
              </a:rPr>
              <a:t> Automation</a:t>
            </a:r>
            <a:r>
              <a:rPr lang="zh-CN" altLang="en-US">
                <a:ea typeface="Microsoft YaHei UI" panose="020B0503020204020204" charset="-122"/>
              </a:rPr>
              <a:t>。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en-US" altLang="zh-CN">
                <a:ea typeface="Microsoft YaHei UI" panose="020B0503020204020204" charset="-122"/>
              </a:rPr>
              <a:t>Gherkin </a:t>
            </a:r>
            <a:r>
              <a:rPr lang="zh-CN" altLang="en-US">
                <a:ea typeface="Microsoft YaHei UI" panose="020B0503020204020204" charset="-122"/>
              </a:rPr>
              <a:t>的</a:t>
            </a:r>
            <a:r>
              <a:rPr lang="en-US" altLang="zh-CN">
                <a:ea typeface="Microsoft YaHei UI" panose="020B0503020204020204" charset="-122"/>
              </a:rPr>
              <a:t> feature </a:t>
            </a:r>
            <a:r>
              <a:rPr lang="zh-CN" altLang="en-US">
                <a:ea typeface="Microsoft YaHei UI" panose="020B0503020204020204" charset="-122"/>
              </a:rPr>
              <a:t>文件保存这些可读场景。</a:t>
            </a:r>
            <a:r>
              <a:rPr lang="en-US" altLang="zh-CN">
                <a:ea typeface="Microsoft YaHei UI" panose="020B0503020204020204" charset="-122"/>
              </a:rPr>
              <a:t>Cucumber </a:t>
            </a:r>
            <a:r>
              <a:rPr lang="zh-CN" altLang="en-US">
                <a:ea typeface="Microsoft YaHei UI" panose="020B0503020204020204" charset="-122"/>
              </a:rPr>
              <a:t>解析句子，找到对应的</a:t>
            </a:r>
            <a:r>
              <a:rPr lang="en-US" altLang="zh-CN">
                <a:ea typeface="Microsoft YaHei UI" panose="020B0503020204020204" charset="-122"/>
              </a:rPr>
              <a:t> Java step definitions</a:t>
            </a:r>
            <a:r>
              <a:rPr lang="zh-CN" altLang="en-US">
                <a:ea typeface="Microsoft YaHei UI" panose="020B0503020204020204" charset="-122"/>
              </a:rPr>
              <a:t>。</a:t>
            </a:r>
            <a:r>
              <a:rPr lang="en-US" altLang="zh-CN">
                <a:ea typeface="Microsoft YaHei UI" panose="020B0503020204020204" charset="-122"/>
              </a:rPr>
              <a:t>@Given</a:t>
            </a:r>
            <a:r>
              <a:rPr lang="zh-CN" altLang="en-US">
                <a:ea typeface="Microsoft YaHei UI" panose="020B0503020204020204" charset="-122"/>
              </a:rPr>
              <a:t>、</a:t>
            </a:r>
            <a:r>
              <a:rPr lang="en-US" altLang="zh-CN">
                <a:ea typeface="Microsoft YaHei UI" panose="020B0503020204020204" charset="-122"/>
              </a:rPr>
              <a:t>@When</a:t>
            </a:r>
            <a:r>
              <a:rPr lang="zh-CN" altLang="en-US">
                <a:ea typeface="Microsoft YaHei UI" panose="020B0503020204020204" charset="-122"/>
              </a:rPr>
              <a:t>、</a:t>
            </a:r>
            <a:r>
              <a:rPr lang="en-US" altLang="zh-CN">
                <a:ea typeface="Microsoft YaHei UI" panose="020B0503020204020204" charset="-122"/>
              </a:rPr>
              <a:t>@Then </a:t>
            </a:r>
            <a:r>
              <a:rPr lang="zh-CN" altLang="en-US">
                <a:ea typeface="Microsoft YaHei UI" panose="020B0503020204020204" charset="-122"/>
              </a:rPr>
              <a:t>标记匹配方法，</a:t>
            </a:r>
            <a:r>
              <a:rPr lang="en-US" altLang="zh-CN">
                <a:ea typeface="Microsoft YaHei UI" panose="020B0503020204020204" charset="-122"/>
              </a:rPr>
              <a:t>glue </a:t>
            </a:r>
            <a:r>
              <a:rPr lang="zh-CN" altLang="en-US">
                <a:ea typeface="Microsoft YaHei UI" panose="020B0503020204020204" charset="-122"/>
              </a:rPr>
              <a:t>指定这些方法所在的</a:t>
            </a:r>
            <a:r>
              <a:rPr lang="en-US" altLang="zh-CN">
                <a:ea typeface="Microsoft YaHei UI" panose="020B0503020204020204" charset="-122"/>
              </a:rPr>
              <a:t> package</a:t>
            </a:r>
            <a:r>
              <a:rPr lang="zh-CN" altLang="en-US">
                <a:ea typeface="Microsoft YaHei UI" panose="020B0503020204020204" charset="-122"/>
              </a:rPr>
              <a:t>。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en-US" altLang="zh-CN">
                <a:ea typeface="Microsoft YaHei UI" panose="020B0503020204020204" charset="-122"/>
              </a:rPr>
              <a:t>Steps </a:t>
            </a:r>
            <a:r>
              <a:rPr lang="zh-CN" altLang="en-US">
                <a:ea typeface="Microsoft YaHei UI" panose="020B0503020204020204" charset="-122"/>
              </a:rPr>
              <a:t>再调用复用的</a:t>
            </a:r>
            <a:r>
              <a:rPr lang="en-US" altLang="zh-CN">
                <a:ea typeface="Microsoft YaHei UI" panose="020B0503020204020204" charset="-122"/>
              </a:rPr>
              <a:t> actions</a:t>
            </a:r>
            <a:r>
              <a:rPr lang="zh-CN" altLang="en-US">
                <a:ea typeface="Microsoft YaHei UI" panose="020B0503020204020204" charset="-122"/>
              </a:rPr>
              <a:t>。如果通过浏览器执行，</a:t>
            </a:r>
            <a:r>
              <a:rPr lang="en-US" altLang="zh-CN">
                <a:ea typeface="Microsoft YaHei UI" panose="020B0503020204020204" charset="-122"/>
              </a:rPr>
              <a:t>Page Object </a:t>
            </a:r>
            <a:r>
              <a:rPr lang="zh-CN" altLang="en-US">
                <a:ea typeface="Microsoft YaHei UI" panose="020B0503020204020204" charset="-122"/>
              </a:rPr>
              <a:t>管理</a:t>
            </a:r>
            <a:r>
              <a:rPr lang="en-US" altLang="zh-CN">
                <a:ea typeface="Microsoft YaHei UI" panose="020B0503020204020204" charset="-122"/>
              </a:rPr>
              <a:t> selectors</a:t>
            </a:r>
            <a:r>
              <a:rPr lang="zh-CN" altLang="en-US">
                <a:ea typeface="Microsoft YaHei UI" panose="020B0503020204020204" charset="-122"/>
              </a:rPr>
              <a:t>、等待和页面读取。如果调用</a:t>
            </a:r>
            <a:r>
              <a:rPr lang="en-US" altLang="zh-CN">
                <a:ea typeface="Microsoft YaHei UI" panose="020B0503020204020204" charset="-122"/>
              </a:rPr>
              <a:t> API</a:t>
            </a:r>
            <a:r>
              <a:rPr lang="zh-CN" altLang="en-US">
                <a:ea typeface="Microsoft YaHei UI" panose="020B0503020204020204" charset="-122"/>
              </a:rPr>
              <a:t>，就使用相应的</a:t>
            </a:r>
            <a:r>
              <a:rPr lang="en-US" altLang="zh-CN">
                <a:ea typeface="Microsoft YaHei UI" panose="020B0503020204020204" charset="-122"/>
              </a:rPr>
              <a:t> client</a:t>
            </a:r>
            <a:r>
              <a:rPr lang="zh-CN" altLang="en-US">
                <a:ea typeface="Microsoft YaHei UI" panose="020B0503020204020204" charset="-122"/>
              </a:rPr>
              <a:t>。断言由我们根据需求编写，</a:t>
            </a:r>
            <a:r>
              <a:rPr lang="en-US" altLang="zh-CN">
                <a:ea typeface="Microsoft YaHei UI" panose="020B0503020204020204" charset="-122"/>
              </a:rPr>
              <a:t>Serenity </a:t>
            </a:r>
            <a:r>
              <a:rPr lang="zh-CN" altLang="en-US">
                <a:ea typeface="Microsoft YaHei UI" panose="020B0503020204020204" charset="-122"/>
              </a:rPr>
              <a:t>不会替我们决定</a:t>
            </a:r>
            <a:r>
              <a:rPr lang="en-US" altLang="zh-CN">
                <a:ea typeface="Microsoft YaHei UI" panose="020B0503020204020204" charset="-122"/>
              </a:rPr>
              <a:t> expected result</a:t>
            </a:r>
            <a:r>
              <a:rPr lang="zh-CN" altLang="en-US">
                <a:ea typeface="Microsoft YaHei UI" panose="020B0503020204020204" charset="-122"/>
              </a:rPr>
              <a:t>。团队使用</a:t>
            </a:r>
            <a:r>
              <a:rPr lang="en-US" altLang="zh-CN">
                <a:ea typeface="Microsoft YaHei UI" panose="020B0503020204020204" charset="-122"/>
              </a:rPr>
              <a:t> Screenplay </a:t>
            </a:r>
            <a:r>
              <a:rPr lang="zh-CN" altLang="en-US">
                <a:ea typeface="Microsoft YaHei UI" panose="020B0503020204020204" charset="-122"/>
              </a:rPr>
              <a:t>时，也可以沿用</a:t>
            </a:r>
            <a:r>
              <a:rPr lang="en-US" altLang="zh-CN">
                <a:ea typeface="Microsoft YaHei UI" panose="020B0503020204020204" charset="-122"/>
              </a:rPr>
              <a:t> Tasks </a:t>
            </a:r>
            <a:r>
              <a:rPr lang="zh-CN" altLang="en-US">
                <a:ea typeface="Microsoft YaHei UI" panose="020B0503020204020204" charset="-122"/>
              </a:rPr>
              <a:t>和</a:t>
            </a:r>
            <a:r>
              <a:rPr lang="en-US" altLang="zh-CN">
                <a:ea typeface="Microsoft YaHei UI" panose="020B0503020204020204" charset="-122"/>
              </a:rPr>
              <a:t> Questions </a:t>
            </a:r>
            <a:r>
              <a:rPr lang="zh-CN" altLang="en-US">
                <a:ea typeface="Microsoft YaHei UI" panose="020B0503020204020204" charset="-122"/>
              </a:rPr>
              <a:t>组织相同的工作。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en-US" altLang="zh-CN">
                <a:ea typeface="Microsoft YaHei UI" panose="020B0503020204020204" charset="-122"/>
              </a:rPr>
              <a:t>Maven </a:t>
            </a:r>
            <a:r>
              <a:rPr lang="zh-CN" altLang="en-US">
                <a:ea typeface="Microsoft YaHei UI" panose="020B0503020204020204" charset="-122"/>
              </a:rPr>
              <a:t>管理依赖和构建，</a:t>
            </a:r>
            <a:r>
              <a:rPr lang="en-US" altLang="zh-CN">
                <a:ea typeface="Microsoft YaHei UI" panose="020B0503020204020204" charset="-122"/>
              </a:rPr>
              <a:t>JUnit Platform </a:t>
            </a:r>
            <a:r>
              <a:rPr lang="zh-CN" altLang="en-US">
                <a:ea typeface="Microsoft YaHei UI" panose="020B0503020204020204" charset="-122"/>
              </a:rPr>
              <a:t>与</a:t>
            </a:r>
            <a:r>
              <a:rPr lang="en-US" altLang="zh-CN">
                <a:ea typeface="Microsoft YaHei UI" panose="020B0503020204020204" charset="-122"/>
              </a:rPr>
              <a:t> Cucumber engine </a:t>
            </a:r>
            <a:r>
              <a:rPr lang="zh-CN" altLang="en-US">
                <a:ea typeface="Microsoft YaHei UI" panose="020B0503020204020204" charset="-122"/>
              </a:rPr>
              <a:t>负责发现并启动测试。</a:t>
            </a:r>
            <a:r>
              <a:rPr lang="en-US" altLang="zh-CN">
                <a:ea typeface="Microsoft YaHei UI" panose="020B0503020204020204" charset="-122"/>
              </a:rPr>
              <a:t>Serenity </a:t>
            </a:r>
            <a:r>
              <a:rPr lang="zh-CN" altLang="en-US">
                <a:ea typeface="Microsoft YaHei UI" panose="020B0503020204020204" charset="-122"/>
              </a:rPr>
              <a:t>记录场景、步骤、失败和相关证据，并生成报告。</a:t>
            </a:r>
            <a:r>
              <a:rPr lang="en-US" altLang="zh-CN">
                <a:ea typeface="Microsoft YaHei UI" panose="020B0503020204020204" charset="-122"/>
              </a:rPr>
              <a:t>CI </a:t>
            </a:r>
            <a:r>
              <a:rPr lang="zh-CN" altLang="en-US">
                <a:ea typeface="Microsoft YaHei UI" panose="020B0503020204020204" charset="-122"/>
              </a:rPr>
              <a:t>可以按</a:t>
            </a:r>
            <a:r>
              <a:rPr lang="en-US" altLang="zh-CN">
                <a:ea typeface="Microsoft YaHei UI" panose="020B0503020204020204" charset="-122"/>
              </a:rPr>
              <a:t> tags </a:t>
            </a:r>
            <a:r>
              <a:rPr lang="zh-CN" altLang="en-US">
                <a:ea typeface="Microsoft YaHei UI" panose="020B0503020204020204" charset="-122"/>
              </a:rPr>
              <a:t>选择</a:t>
            </a:r>
            <a:r>
              <a:rPr lang="en-US" altLang="zh-CN">
                <a:ea typeface="Microsoft YaHei UI" panose="020B0503020204020204" charset="-122"/>
              </a:rPr>
              <a:t> smoke </a:t>
            </a:r>
            <a:r>
              <a:rPr lang="zh-CN" altLang="en-US">
                <a:ea typeface="Microsoft YaHei UI" panose="020B0503020204020204" charset="-122"/>
              </a:rPr>
              <a:t>或</a:t>
            </a:r>
            <a:r>
              <a:rPr lang="en-US" altLang="zh-CN">
                <a:ea typeface="Microsoft YaHei UI" panose="020B0503020204020204" charset="-122"/>
              </a:rPr>
              <a:t> regression</a:t>
            </a:r>
            <a:r>
              <a:rPr lang="zh-CN" altLang="en-US">
                <a:ea typeface="Microsoft YaHei UI" panose="020B0503020204020204" charset="-122"/>
              </a:rPr>
              <a:t>。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zh-CN" altLang="zh-CN">
                <a:ea typeface="Microsoft YaHei UI" panose="020B0503020204020204" charset="-122"/>
              </a:rPr>
              <a:t>报告可以形成</a:t>
            </a:r>
            <a:r>
              <a:rPr lang="en-US" altLang="zh-CN">
                <a:ea typeface="Microsoft YaHei UI" panose="020B0503020204020204" charset="-122"/>
              </a:rPr>
              <a:t> Living Documentation</a:t>
            </a:r>
            <a:r>
              <a:rPr lang="zh-CN" altLang="en-US">
                <a:ea typeface="Microsoft YaHei UI" panose="020B0503020204020204" charset="-122"/>
              </a:rPr>
              <a:t>，但它只说明已定义场景在明确版本、环境中的结果。场景和代码也要随需求更新。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zh-CN" altLang="zh-CN">
                <a:ea typeface="Microsoft YaHei UI" panose="020B0503020204020204" charset="-122"/>
              </a:rPr>
              <a:t>参考：</a:t>
            </a:r>
            <a:r>
              <a:rPr lang="en-US" altLang="zh-CN">
                <a:ea typeface="Microsoft YaHei UI" panose="020B0503020204020204" charset="-122"/>
              </a:rPr>
              <a:t>Cucumber BDD</a:t>
            </a:r>
            <a:r>
              <a:rPr lang="zh-CN" altLang="en-US">
                <a:ea typeface="Microsoft YaHei UI" panose="020B0503020204020204" charset="-122"/>
              </a:rPr>
              <a:t>：</a:t>
            </a:r>
            <a:r>
              <a:rPr lang="en-US" altLang="zh-CN">
                <a:ea typeface="Microsoft YaHei UI" panose="020B0503020204020204" charset="-122"/>
              </a:rPr>
              <a:t>https://cucumber.io/docs/bdd/</a:t>
            </a:r>
            <a:endParaRPr lang="en-US" altLang="zh-CN">
              <a:ea typeface="Microsoft YaHei UI" panose="020B0503020204020204" charset="-122"/>
            </a:endParaRPr>
          </a:p>
          <a:p>
            <a:r>
              <a:rPr lang="en-US" altLang="zh-CN">
                <a:ea typeface="Microsoft YaHei UI" panose="020B0503020204020204" charset="-122"/>
              </a:rPr>
              <a:t>Serenity Introduction</a:t>
            </a:r>
            <a:r>
              <a:rPr lang="zh-CN" altLang="en-US">
                <a:ea typeface="Microsoft YaHei UI" panose="020B0503020204020204" charset="-122"/>
              </a:rPr>
              <a:t>：</a:t>
            </a:r>
            <a:r>
              <a:rPr lang="en-US" altLang="zh-CN">
                <a:ea typeface="Microsoft YaHei UI" panose="020B0503020204020204" charset="-122"/>
              </a:rPr>
              <a:t>https://serenity-bdd.github.io/docs/guide/user_guide_intro</a:t>
            </a:r>
            <a:endParaRPr lang="en-US" altLang="zh-CN">
              <a:ea typeface="Microsoft YaHei UI" panose="020B0503020204020204" charset="-122"/>
            </a:endParaRPr>
          </a:p>
          <a:p>
            <a:r>
              <a:rPr lang="en-US" altLang="zh-CN">
                <a:ea typeface="Microsoft YaHei UI" panose="020B0503020204020204" charset="-122"/>
              </a:rPr>
              <a:t>Maven</a:t>
            </a:r>
            <a:r>
              <a:rPr lang="zh-CN" altLang="en-US">
                <a:ea typeface="Microsoft YaHei UI" panose="020B0503020204020204" charset="-122"/>
              </a:rPr>
              <a:t>：</a:t>
            </a:r>
            <a:r>
              <a:rPr lang="en-US" altLang="zh-CN">
                <a:ea typeface="Microsoft YaHei UI" panose="020B0503020204020204" charset="-122"/>
              </a:rPr>
              <a:t>https://serenity-bdd.github.io/docs/guide/maven</a:t>
            </a:r>
            <a:endParaRPr lang="en-US" altLang="zh-CN">
              <a:ea typeface="Microsoft YaHei UI" panose="020B0503020204020204" charset="-122"/>
            </a:endParaRPr>
          </a:p>
          <a:p>
            <a:r>
              <a:rPr lang="en-US" altLang="zh-CN">
                <a:ea typeface="Microsoft YaHei UI" panose="020B0503020204020204" charset="-122"/>
              </a:rPr>
              <a:t>Page Objects</a:t>
            </a:r>
            <a:r>
              <a:rPr lang="zh-CN" altLang="en-US">
                <a:ea typeface="Microsoft YaHei UI" panose="020B0503020204020204" charset="-122"/>
              </a:rPr>
              <a:t>：</a:t>
            </a:r>
            <a:r>
              <a:rPr lang="en-US" altLang="zh-CN">
                <a:ea typeface="Microsoft YaHei UI" panose="020B0503020204020204" charset="-122"/>
              </a:rPr>
              <a:t>https://serenity-bdd.github.io/docs/guide/page_objects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en-US" altLang="zh-CN">
                <a:ea typeface="Microsoft YaHei UI" panose="020B0503020204020204" charset="-122"/>
              </a:rPr>
              <a:t>Java </a:t>
            </a:r>
            <a:r>
              <a:rPr lang="zh-CN" altLang="en-US">
                <a:ea typeface="Microsoft YaHei UI" panose="020B0503020204020204" charset="-122"/>
              </a:rPr>
              <a:t>层并不自动产生正确的业务断言。</a:t>
            </a:r>
            <a:r>
              <a:rPr lang="en-US" altLang="zh-CN">
                <a:ea typeface="Microsoft YaHei UI" panose="020B0503020204020204" charset="-122"/>
              </a:rPr>
              <a:t>Cucumber </a:t>
            </a:r>
            <a:r>
              <a:rPr lang="zh-CN" altLang="en-US">
                <a:ea typeface="Microsoft YaHei UI" panose="020B0503020204020204" charset="-122"/>
              </a:rPr>
              <a:t>负责将句子匹配到方法，</a:t>
            </a:r>
            <a:r>
              <a:rPr lang="en-US" altLang="zh-CN">
                <a:ea typeface="Microsoft YaHei UI" panose="020B0503020204020204" charset="-122"/>
              </a:rPr>
              <a:t>Steps </a:t>
            </a:r>
            <a:r>
              <a:rPr lang="zh-CN" altLang="en-US">
                <a:ea typeface="Microsoft YaHei UI" panose="020B0503020204020204" charset="-122"/>
              </a:rPr>
              <a:t>再调用复用的操作层或</a:t>
            </a:r>
            <a:r>
              <a:rPr lang="en-US" altLang="zh-CN">
                <a:ea typeface="Microsoft YaHei UI" panose="020B0503020204020204" charset="-122"/>
              </a:rPr>
              <a:t> client</a:t>
            </a:r>
            <a:r>
              <a:rPr lang="zh-CN" altLang="en-US">
                <a:ea typeface="Microsoft YaHei UI" panose="020B0503020204020204" charset="-122"/>
              </a:rPr>
              <a:t>；</a:t>
            </a:r>
            <a:r>
              <a:rPr lang="en-US" altLang="zh-CN">
                <a:ea typeface="Microsoft YaHei UI" panose="020B0503020204020204" charset="-122"/>
              </a:rPr>
              <a:t>Page Object </a:t>
            </a:r>
            <a:r>
              <a:rPr lang="zh-CN" altLang="en-US">
                <a:ea typeface="Microsoft YaHei UI" panose="020B0503020204020204" charset="-122"/>
              </a:rPr>
              <a:t>集中管理定位、等待和读取，让页面结构变化时更容易维护。</a:t>
            </a:r>
            <a:r>
              <a:rPr lang="en-US" altLang="zh-CN">
                <a:ea typeface="Microsoft YaHei UI" panose="020B0503020204020204" charset="-122"/>
              </a:rPr>
              <a:t>Assertions </a:t>
            </a:r>
            <a:r>
              <a:rPr lang="zh-CN" altLang="en-US">
                <a:ea typeface="Microsoft YaHei UI" panose="020B0503020204020204" charset="-122"/>
              </a:rPr>
              <a:t>根据需求判断结果，</a:t>
            </a:r>
            <a:r>
              <a:rPr lang="en-US" altLang="zh-CN">
                <a:ea typeface="Microsoft YaHei UI" panose="020B0503020204020204" charset="-122"/>
              </a:rPr>
              <a:t>Serenity </a:t>
            </a:r>
            <a:r>
              <a:rPr lang="zh-CN" altLang="en-US">
                <a:ea typeface="Microsoft YaHei UI" panose="020B0503020204020204" charset="-122"/>
              </a:rPr>
              <a:t>则记录执行过程。可读场景、实现和报告各自有职责，要一起更新，报告才有解释价值。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zh-CN" altLang="zh-CN">
                <a:ea typeface="Microsoft YaHei UI" panose="020B0503020204020204" charset="-122"/>
              </a:rPr>
              <a:t>这次用官方报告截图解释记录过程。第五页的图片裁取自官方计算器示例，图片中的操作与左上角的空</a:t>
            </a:r>
            <a:r>
              <a:rPr lang="en-US" altLang="zh-CN">
                <a:ea typeface="Microsoft YaHei UI" panose="020B0503020204020204" charset="-122"/>
              </a:rPr>
              <a:t> name </a:t>
            </a:r>
            <a:r>
              <a:rPr lang="zh-CN" altLang="en-US">
                <a:ea typeface="Microsoft YaHei UI" panose="020B0503020204020204" charset="-122"/>
              </a:rPr>
              <a:t>场景是不同示例，用于展示报告结构，不是</a:t>
            </a:r>
            <a:r>
              <a:rPr lang="en-US" altLang="zh-CN">
                <a:ea typeface="Microsoft YaHei UI" panose="020B0503020204020204" charset="-122"/>
              </a:rPr>
              <a:t> NPA </a:t>
            </a:r>
            <a:r>
              <a:rPr lang="zh-CN" altLang="en-US">
                <a:ea typeface="Microsoft YaHei UI" panose="020B0503020204020204" charset="-122"/>
              </a:rPr>
              <a:t>的执行结果。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zh-CN" altLang="zh-CN">
                <a:ea typeface="Microsoft YaHei UI" panose="020B0503020204020204" charset="-122"/>
              </a:rPr>
              <a:t>先看</a:t>
            </a:r>
            <a:r>
              <a:rPr lang="en-US" altLang="zh-CN">
                <a:ea typeface="Microsoft YaHei UI" panose="020B0503020204020204" charset="-122"/>
              </a:rPr>
              <a:t> Steps</a:t>
            </a:r>
            <a:r>
              <a:rPr lang="zh-CN" altLang="en-US">
                <a:ea typeface="Microsoft YaHei UI" panose="020B0503020204020204" charset="-122"/>
              </a:rPr>
              <a:t>：能知道实际执行了哪些动作。再看</a:t>
            </a:r>
            <a:r>
              <a:rPr lang="en-US" altLang="zh-CN">
                <a:ea typeface="Microsoft YaHei UI" panose="020B0503020204020204" charset="-122"/>
              </a:rPr>
              <a:t> Screenshots</a:t>
            </a:r>
            <a:r>
              <a:rPr lang="zh-CN" altLang="en-US">
                <a:ea typeface="Microsoft YaHei UI" panose="020B0503020204020204" charset="-122"/>
              </a:rPr>
              <a:t>：缩略图关联当时的被测页面，完整原图还展示了计算器页面的截图预览。</a:t>
            </a:r>
            <a:r>
              <a:rPr lang="en-US" altLang="zh-CN">
                <a:ea typeface="Microsoft YaHei UI" panose="020B0503020204020204" charset="-122"/>
              </a:rPr>
              <a:t>Outcome </a:t>
            </a:r>
            <a:r>
              <a:rPr lang="zh-CN" altLang="en-US">
                <a:ea typeface="Microsoft YaHei UI" panose="020B0503020204020204" charset="-122"/>
              </a:rPr>
              <a:t>显示每个记录步骤的结果，最右侧显示耗时。图中的</a:t>
            </a:r>
            <a:r>
              <a:rPr lang="en-US" altLang="zh-CN">
                <a:ea typeface="Microsoft YaHei UI" panose="020B0503020204020204" charset="-122"/>
              </a:rPr>
              <a:t> SUCCESS </a:t>
            </a:r>
            <a:r>
              <a:rPr lang="zh-CN" altLang="en-US">
                <a:ea typeface="Microsoft YaHei UI" panose="020B0503020204020204" charset="-122"/>
              </a:rPr>
              <a:t>属于这个官方示例；不能把它理解成我们的项目已经通过测试。截图捕获频率由配置决定，并不是任何</a:t>
            </a:r>
            <a:r>
              <a:rPr lang="en-US" altLang="zh-CN">
                <a:ea typeface="Microsoft YaHei UI" panose="020B0503020204020204" charset="-122"/>
              </a:rPr>
              <a:t> Java </a:t>
            </a:r>
            <a:r>
              <a:rPr lang="zh-CN" altLang="en-US">
                <a:ea typeface="Microsoft YaHei UI" panose="020B0503020204020204" charset="-122"/>
              </a:rPr>
              <a:t>方法、任何执行方式都自动有浏览器截图。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zh-CN" altLang="zh-CN">
                <a:ea typeface="Microsoft YaHei UI" panose="020B0503020204020204" charset="-122"/>
              </a:rPr>
              <a:t>图标、流程图与截图配合后，可以这样讲：</a:t>
            </a:r>
            <a:r>
              <a:rPr lang="en-US" altLang="zh-CN">
                <a:ea typeface="Microsoft YaHei UI" panose="020B0503020204020204" charset="-122"/>
              </a:rPr>
              <a:t>Feature </a:t>
            </a:r>
            <a:r>
              <a:rPr lang="zh-CN" altLang="en-US">
                <a:ea typeface="Microsoft YaHei UI" panose="020B0503020204020204" charset="-122"/>
              </a:rPr>
              <a:t>定义要检查的行为，</a:t>
            </a:r>
            <a:r>
              <a:rPr lang="en-US" altLang="zh-CN">
                <a:ea typeface="Microsoft YaHei UI" panose="020B0503020204020204" charset="-122"/>
              </a:rPr>
              <a:t>Cucumber / Java </a:t>
            </a:r>
            <a:r>
              <a:rPr lang="zh-CN" altLang="en-US">
                <a:ea typeface="Microsoft YaHei UI" panose="020B0503020204020204" charset="-122"/>
              </a:rPr>
              <a:t>操作</a:t>
            </a:r>
            <a:r>
              <a:rPr lang="en-US" altLang="zh-CN">
                <a:ea typeface="Microsoft YaHei UI" panose="020B0503020204020204" charset="-122"/>
              </a:rPr>
              <a:t> SUT </a:t>
            </a:r>
            <a:r>
              <a:rPr lang="zh-CN" altLang="en-US">
                <a:ea typeface="Microsoft YaHei UI" panose="020B0503020204020204" charset="-122"/>
              </a:rPr>
              <a:t>并执行断言，</a:t>
            </a:r>
            <a:r>
              <a:rPr lang="en-US" altLang="zh-CN">
                <a:ea typeface="Microsoft YaHei UI" panose="020B0503020204020204" charset="-122"/>
              </a:rPr>
              <a:t>Serenity </a:t>
            </a:r>
            <a:r>
              <a:rPr lang="zh-CN" altLang="en-US">
                <a:ea typeface="Microsoft YaHei UI" panose="020B0503020204020204" charset="-122"/>
              </a:rPr>
              <a:t>把已记录的场景和步骤汇总到报告。测试预期仍由需求和我们的断言定义。你们用</a:t>
            </a:r>
            <a:r>
              <a:rPr lang="en-US" altLang="zh-CN">
                <a:ea typeface="Microsoft YaHei UI" panose="020B0503020204020204" charset="-122"/>
              </a:rPr>
              <a:t> Cucumber </a:t>
            </a:r>
            <a:r>
              <a:rPr lang="zh-CN" altLang="en-US">
                <a:ea typeface="Microsoft YaHei UI" panose="020B0503020204020204" charset="-122"/>
              </a:rPr>
              <a:t>时，场景和</a:t>
            </a:r>
            <a:r>
              <a:rPr lang="en-US" altLang="zh-CN">
                <a:ea typeface="Microsoft YaHei UI" panose="020B0503020204020204" charset="-122"/>
              </a:rPr>
              <a:t> Gherkin </a:t>
            </a:r>
            <a:r>
              <a:rPr lang="zh-CN" altLang="en-US">
                <a:ea typeface="Microsoft YaHei UI" panose="020B0503020204020204" charset="-122"/>
              </a:rPr>
              <a:t>步骤接入</a:t>
            </a:r>
            <a:r>
              <a:rPr lang="en-US" altLang="zh-CN">
                <a:ea typeface="Microsoft YaHei UI" panose="020B0503020204020204" charset="-122"/>
              </a:rPr>
              <a:t> Serenity </a:t>
            </a:r>
            <a:r>
              <a:rPr lang="zh-CN" altLang="en-US">
                <a:ea typeface="Microsoft YaHei UI" panose="020B0503020204020204" charset="-122"/>
              </a:rPr>
              <a:t>的集成后才能生成相应报告；子步骤可以通过</a:t>
            </a:r>
            <a:r>
              <a:rPr lang="en-US" altLang="zh-CN">
                <a:ea typeface="Microsoft YaHei UI" panose="020B0503020204020204" charset="-122"/>
              </a:rPr>
              <a:t> instrumented step libraries </a:t>
            </a:r>
            <a:r>
              <a:rPr lang="zh-CN" altLang="en-US">
                <a:ea typeface="Microsoft YaHei UI" panose="020B0503020204020204" charset="-122"/>
              </a:rPr>
              <a:t>等方式记录。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zh-CN" altLang="zh-CN">
                <a:ea typeface="Microsoft YaHei UI" panose="020B0503020204020204" charset="-122"/>
              </a:rPr>
              <a:t>图片来源：</a:t>
            </a:r>
            <a:r>
              <a:rPr lang="en-US" altLang="zh-CN">
                <a:ea typeface="Microsoft YaHei UI" panose="020B0503020204020204" charset="-122"/>
              </a:rPr>
              <a:t>Serenity </a:t>
            </a:r>
            <a:r>
              <a:rPr lang="zh-CN" altLang="en-US">
                <a:ea typeface="Microsoft YaHei UI" panose="020B0503020204020204" charset="-122"/>
              </a:rPr>
              <a:t>官方</a:t>
            </a:r>
            <a:r>
              <a:rPr lang="en-US" altLang="zh-CN">
                <a:ea typeface="Microsoft YaHei UI" panose="020B0503020204020204" charset="-122"/>
              </a:rPr>
              <a:t> Step Libraries </a:t>
            </a:r>
            <a:r>
              <a:rPr lang="zh-CN" altLang="en-US">
                <a:ea typeface="Microsoft YaHei UI" panose="020B0503020204020204" charset="-122"/>
              </a:rPr>
              <a:t>文档。文档截图包含旧版本界面；实际项目的样式和可用证据会随版本、集成与配置变化。</a:t>
            </a:r>
            <a:endParaRPr lang="en-US" altLang="zh-CN">
              <a:ea typeface="Microsoft YaHei UI" panose="020B0503020204020204" charset="-122"/>
            </a:endParaRPr>
          </a:p>
          <a:p>
            <a:r>
              <a:rPr lang="en-US" altLang="zh-CN">
                <a:ea typeface="Microsoft YaHei UI" panose="020B0503020204020204" charset="-122"/>
              </a:rPr>
              <a:t>https://serenity-bdd.github.io/docs/guide/step_libraries</a:t>
            </a:r>
            <a:endParaRPr lang="en-US" altLang="zh-CN">
              <a:ea typeface="Microsoft YaHei UI" panose="020B0503020204020204" charset="-122"/>
            </a:endParaRPr>
          </a:p>
          <a:p>
            <a:r>
              <a:rPr lang="en-US" altLang="zh-CN">
                <a:ea typeface="Microsoft YaHei UI" panose="020B0503020204020204" charset="-122"/>
              </a:rPr>
              <a:t>https://serenity-bdd.github.io/assets/images/calculator-step-screenshots-f155907793e985d481afe765cc342085.png</a:t>
            </a:r>
            <a:endParaRPr lang="en-US" altLang="zh-CN">
              <a:ea typeface="Microsoft YaHei UI" panose="020B0503020204020204" charset="-122"/>
            </a:endParaRPr>
          </a:p>
          <a:p>
            <a:r>
              <a:rPr lang="zh-CN" altLang="zh-CN">
                <a:ea typeface="Microsoft YaHei UI" panose="020B0503020204020204" charset="-122"/>
              </a:rPr>
              <a:t>截图配置参考：</a:t>
            </a:r>
            <a:endParaRPr lang="en-US" altLang="zh-CN">
              <a:ea typeface="Microsoft YaHei UI" panose="020B0503020204020204" charset="-122"/>
            </a:endParaRPr>
          </a:p>
          <a:p>
            <a:r>
              <a:rPr lang="en-US" altLang="zh-CN">
                <a:ea typeface="Microsoft YaHei UI" panose="020B0503020204020204" charset="-122"/>
              </a:rPr>
              <a:t>https://serenity-bdd.github.io/docs/reference/serenity-properties</a:t>
            </a:r>
            <a:endParaRPr lang="en-US" altLang="zh-CN">
              <a:ea typeface="Microsoft YaHei UI" panose="020B0503020204020204" charset="-122"/>
            </a:endParaRPr>
          </a:p>
          <a:p>
            <a:r>
              <a:rPr lang="zh-CN" altLang="zh-CN">
                <a:ea typeface="Microsoft YaHei UI" panose="020B0503020204020204" charset="-122"/>
              </a:rPr>
              <a:t>报告总览与结果列表：</a:t>
            </a:r>
            <a:endParaRPr lang="en-US" altLang="zh-CN">
              <a:ea typeface="Microsoft YaHei UI" panose="020B0503020204020204" charset="-122"/>
            </a:endParaRPr>
          </a:p>
          <a:p>
            <a:r>
              <a:rPr lang="en-US" altLang="zh-CN">
                <a:ea typeface="Microsoft YaHei UI" panose="020B0503020204020204" charset="-122"/>
              </a:rPr>
              <a:t>https://serenity-bdd.github.io/docs/reporting/the_serenity_reports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zh-CN" altLang="zh-CN">
                <a:ea typeface="Microsoft YaHei UI" panose="020B0503020204020204" charset="-122"/>
              </a:rPr>
              <a:t>左边</a:t>
            </a:r>
            <a:r>
              <a:rPr lang="en-US" altLang="zh-CN">
                <a:ea typeface="Microsoft YaHei UI" panose="020B0503020204020204" charset="-122"/>
              </a:rPr>
              <a:t> Gherkin </a:t>
            </a:r>
            <a:r>
              <a:rPr lang="zh-CN" altLang="en-US">
                <a:ea typeface="Microsoft YaHei UI" panose="020B0503020204020204" charset="-122"/>
              </a:rPr>
              <a:t>对应第一页空</a:t>
            </a:r>
            <a:r>
              <a:rPr lang="en-US" altLang="zh-CN">
                <a:ea typeface="Microsoft YaHei UI" panose="020B0503020204020204" charset="-122"/>
              </a:rPr>
              <a:t> name </a:t>
            </a:r>
            <a:r>
              <a:rPr lang="zh-CN" altLang="en-US">
                <a:ea typeface="Microsoft YaHei UI" panose="020B0503020204020204" charset="-122"/>
              </a:rPr>
              <a:t>的例子。</a:t>
            </a:r>
            <a:r>
              <a:rPr lang="en-US" altLang="zh-CN">
                <a:ea typeface="Microsoft YaHei UI" panose="020B0503020204020204" charset="-122"/>
              </a:rPr>
              <a:t>Cucumber </a:t>
            </a:r>
            <a:r>
              <a:rPr lang="zh-CN" altLang="en-US">
                <a:ea typeface="Microsoft YaHei UI" panose="020B0503020204020204" charset="-122"/>
              </a:rPr>
              <a:t>通过</a:t>
            </a:r>
            <a:r>
              <a:rPr lang="en-US" altLang="zh-CN">
                <a:ea typeface="Microsoft YaHei UI" panose="020B0503020204020204" charset="-122"/>
              </a:rPr>
              <a:t> glue </a:t>
            </a:r>
            <a:r>
              <a:rPr lang="zh-CN" altLang="en-US">
                <a:ea typeface="Microsoft YaHei UI" panose="020B0503020204020204" charset="-122"/>
              </a:rPr>
              <a:t>找到</a:t>
            </a:r>
            <a:r>
              <a:rPr lang="en-US" altLang="zh-CN">
                <a:ea typeface="Microsoft YaHei UI" panose="020B0503020204020204" charset="-122"/>
              </a:rPr>
              <a:t> step methods</a:t>
            </a:r>
            <a:r>
              <a:rPr lang="zh-CN" altLang="en-US">
                <a:ea typeface="Microsoft YaHei UI" panose="020B0503020204020204" charset="-122"/>
              </a:rPr>
              <a:t>。下方流程图表示</a:t>
            </a:r>
            <a:r>
              <a:rPr lang="en-US" altLang="zh-CN">
                <a:ea typeface="Microsoft YaHei UI" panose="020B0503020204020204" charset="-122"/>
              </a:rPr>
              <a:t> Feature </a:t>
            </a:r>
            <a:r>
              <a:rPr lang="zh-CN" altLang="en-US">
                <a:ea typeface="Microsoft YaHei UI" panose="020B0503020204020204" charset="-122"/>
              </a:rPr>
              <a:t>进入</a:t>
            </a:r>
            <a:r>
              <a:rPr lang="en-US" altLang="zh-CN">
                <a:ea typeface="Microsoft YaHei UI" panose="020B0503020204020204" charset="-122"/>
              </a:rPr>
              <a:t> Java </a:t>
            </a:r>
            <a:r>
              <a:rPr lang="zh-CN" altLang="en-US">
                <a:ea typeface="Microsoft YaHei UI" panose="020B0503020204020204" charset="-122"/>
              </a:rPr>
              <a:t>和</a:t>
            </a:r>
            <a:r>
              <a:rPr lang="en-US" altLang="zh-CN">
                <a:ea typeface="Microsoft YaHei UI" panose="020B0503020204020204" charset="-122"/>
              </a:rPr>
              <a:t> SUT </a:t>
            </a:r>
            <a:r>
              <a:rPr lang="zh-CN" altLang="en-US">
                <a:ea typeface="Microsoft YaHei UI" panose="020B0503020204020204" charset="-122"/>
              </a:rPr>
              <a:t>执行，</a:t>
            </a:r>
            <a:r>
              <a:rPr lang="en-US" altLang="zh-CN">
                <a:ea typeface="Microsoft YaHei UI" panose="020B0503020204020204" charset="-122"/>
              </a:rPr>
              <a:t>Serenity </a:t>
            </a:r>
            <a:r>
              <a:rPr lang="zh-CN" altLang="en-US">
                <a:ea typeface="Microsoft YaHei UI" panose="020B0503020204020204" charset="-122"/>
              </a:rPr>
              <a:t>在运行过程中记录结果。</a:t>
            </a:r>
            <a:r>
              <a:rPr lang="en-US" altLang="zh-CN">
                <a:ea typeface="Microsoft YaHei UI" panose="020B0503020204020204" charset="-122"/>
              </a:rPr>
              <a:t>SUT </a:t>
            </a:r>
            <a:r>
              <a:rPr lang="zh-CN" altLang="en-US">
                <a:ea typeface="Microsoft YaHei UI" panose="020B0503020204020204" charset="-122"/>
              </a:rPr>
              <a:t>是被测系统。</a:t>
            </a:r>
            <a:endParaRPr lang="zh-CN" altLang="en-US">
              <a:ea typeface="Microsoft YaHei UI" panose="020B0503020204020204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ea typeface="Microsoft YaHei UI" panose="020B0503020204020204" charset="-122"/>
              </a:rPr>
              <a:t>最后用一个</a:t>
            </a:r>
            <a:r>
              <a:rPr lang="en-US" altLang="zh-CN">
                <a:ea typeface="Microsoft YaHei UI" panose="020B0503020204020204" charset="-122"/>
              </a:rPr>
              <a:t> NPA sign-off </a:t>
            </a:r>
            <a:r>
              <a:rPr lang="zh-CN" altLang="en-US">
                <a:ea typeface="Microsoft YaHei UI" panose="020B0503020204020204" charset="-122"/>
              </a:rPr>
              <a:t>例子把前面的概念连起来。假设我们准备了一个</a:t>
            </a:r>
            <a:r>
              <a:rPr lang="en-US" altLang="zh-CN">
                <a:ea typeface="Microsoft YaHei UI" panose="020B0503020204020204" charset="-122"/>
              </a:rPr>
              <a:t> Pre-NPA proposal</a:t>
            </a:r>
            <a:r>
              <a:rPr lang="zh-CN" altLang="en-US">
                <a:ea typeface="Microsoft YaHei UI" panose="020B0503020204020204" charset="-122"/>
              </a:rPr>
              <a:t>，</a:t>
            </a:r>
            <a:r>
              <a:rPr lang="en-US" altLang="zh-CN">
                <a:ea typeface="Microsoft YaHei UI" panose="020B0503020204020204" charset="-122"/>
              </a:rPr>
              <a:t>Unit A </a:t>
            </a:r>
            <a:r>
              <a:rPr lang="zh-CN" altLang="en-US">
                <a:ea typeface="Microsoft YaHei UI" panose="020B0503020204020204" charset="-122"/>
              </a:rPr>
              <a:t>的</a:t>
            </a:r>
            <a:r>
              <a:rPr lang="en-US" altLang="zh-CN">
                <a:ea typeface="Microsoft YaHei UI" panose="020B0503020204020204" charset="-122"/>
              </a:rPr>
              <a:t> sign-off </a:t>
            </a:r>
            <a:r>
              <a:rPr lang="zh-CN" altLang="en-US">
                <a:ea typeface="Microsoft YaHei UI" panose="020B0503020204020204" charset="-122"/>
              </a:rPr>
              <a:t>还是</a:t>
            </a:r>
            <a:r>
              <a:rPr lang="en-US" altLang="zh-CN">
                <a:ea typeface="Microsoft YaHei UI" panose="020B0503020204020204" charset="-122"/>
              </a:rPr>
              <a:t> Pending</a:t>
            </a:r>
            <a:r>
              <a:rPr lang="zh-CN" altLang="en-US">
                <a:ea typeface="Microsoft YaHei UI" panose="020B0503020204020204" charset="-122"/>
              </a:rPr>
              <a:t>，测试用户有相应权限。这个前置状态需要由数据准备和登录步骤建立。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en-US" altLang="zh-CN">
                <a:ea typeface="Microsoft YaHei UI" panose="020B0503020204020204" charset="-122"/>
              </a:rPr>
              <a:t>When </a:t>
            </a:r>
            <a:r>
              <a:rPr lang="zh-CN" altLang="en-US">
                <a:ea typeface="Microsoft YaHei UI" panose="020B0503020204020204" charset="-122"/>
              </a:rPr>
              <a:t>对应提交</a:t>
            </a:r>
            <a:r>
              <a:rPr lang="en-US" altLang="zh-CN">
                <a:ea typeface="Microsoft YaHei UI" panose="020B0503020204020204" charset="-122"/>
              </a:rPr>
              <a:t> Unit A </a:t>
            </a:r>
            <a:r>
              <a:rPr lang="zh-CN" altLang="en-US">
                <a:ea typeface="Microsoft YaHei UI" panose="020B0503020204020204" charset="-122"/>
              </a:rPr>
              <a:t>的</a:t>
            </a:r>
            <a:r>
              <a:rPr lang="en-US" altLang="zh-CN">
                <a:ea typeface="Microsoft YaHei UI" panose="020B0503020204020204" charset="-122"/>
              </a:rPr>
              <a:t> sign-off</a:t>
            </a:r>
            <a:r>
              <a:rPr lang="zh-CN" altLang="en-US">
                <a:ea typeface="Microsoft YaHei UI" panose="020B0503020204020204" charset="-122"/>
              </a:rPr>
              <a:t>。</a:t>
            </a:r>
            <a:r>
              <a:rPr lang="en-US" altLang="zh-CN">
                <a:ea typeface="Microsoft YaHei UI" panose="020B0503020204020204" charset="-122"/>
              </a:rPr>
              <a:t>Then </a:t>
            </a:r>
            <a:r>
              <a:rPr lang="zh-CN" altLang="en-US">
                <a:ea typeface="Microsoft YaHei UI" panose="020B0503020204020204" charset="-122"/>
              </a:rPr>
              <a:t>重新打开同一个</a:t>
            </a:r>
            <a:r>
              <a:rPr lang="en-US" altLang="zh-CN">
                <a:ea typeface="Microsoft YaHei UI" panose="020B0503020204020204" charset="-122"/>
              </a:rPr>
              <a:t> proposal</a:t>
            </a:r>
            <a:r>
              <a:rPr lang="zh-CN" altLang="en-US">
                <a:ea typeface="Microsoft YaHei UI" panose="020B0503020204020204" charset="-122"/>
              </a:rPr>
              <a:t>，读取对应</a:t>
            </a:r>
            <a:r>
              <a:rPr lang="en-US" altLang="zh-CN">
                <a:ea typeface="Microsoft YaHei UI" panose="020B0503020204020204" charset="-122"/>
              </a:rPr>
              <a:t> unit </a:t>
            </a:r>
            <a:r>
              <a:rPr lang="zh-CN" altLang="en-US">
                <a:ea typeface="Microsoft YaHei UI" panose="020B0503020204020204" charset="-122"/>
              </a:rPr>
              <a:t>的状态，再跟</a:t>
            </a:r>
            <a:r>
              <a:rPr lang="en-US" altLang="zh-CN">
                <a:ea typeface="Microsoft YaHei UI" panose="020B0503020204020204" charset="-122"/>
              </a:rPr>
              <a:t> expected status </a:t>
            </a:r>
            <a:r>
              <a:rPr lang="zh-CN" altLang="en-US">
                <a:ea typeface="Microsoft YaHei UI" panose="020B0503020204020204" charset="-122"/>
              </a:rPr>
              <a:t>比较。这样检查的是保存后的结果，不只是按钮点击或成功提示。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zh-CN" altLang="zh-CN">
                <a:ea typeface="Microsoft YaHei UI" panose="020B0503020204020204" charset="-122"/>
              </a:rPr>
              <a:t>代码是局部示意。</a:t>
            </a:r>
            <a:r>
              <a:rPr lang="en-US" altLang="zh-CN">
                <a:ea typeface="Microsoft YaHei UI" panose="020B0503020204020204" charset="-122"/>
              </a:rPr>
              <a:t>actions.submitFor </a:t>
            </a:r>
            <a:r>
              <a:rPr lang="zh-CN" altLang="en-US">
                <a:ea typeface="Microsoft YaHei UI" panose="020B0503020204020204" charset="-122"/>
              </a:rPr>
              <a:t>需要按实际页面或</a:t>
            </a:r>
            <a:r>
              <a:rPr lang="en-US" altLang="zh-CN">
                <a:ea typeface="Microsoft YaHei UI" panose="020B0503020204020204" charset="-122"/>
              </a:rPr>
              <a:t> API </a:t>
            </a:r>
            <a:r>
              <a:rPr lang="zh-CN" altLang="en-US">
                <a:ea typeface="Microsoft YaHei UI" panose="020B0503020204020204" charset="-122"/>
              </a:rPr>
              <a:t>实现，</a:t>
            </a:r>
            <a:r>
              <a:rPr lang="en-US" altLang="zh-CN">
                <a:ea typeface="Microsoft YaHei UI" panose="020B0503020204020204" charset="-122"/>
              </a:rPr>
              <a:t>page.reopen </a:t>
            </a:r>
            <a:r>
              <a:rPr lang="zh-CN" altLang="en-US">
                <a:ea typeface="Microsoft YaHei UI" panose="020B0503020204020204" charset="-122"/>
              </a:rPr>
              <a:t>和</a:t>
            </a:r>
            <a:r>
              <a:rPr lang="en-US" altLang="zh-CN">
                <a:ea typeface="Microsoft YaHei UI" panose="020B0503020204020204" charset="-122"/>
              </a:rPr>
              <a:t> statusFor </a:t>
            </a:r>
            <a:r>
              <a:rPr lang="zh-CN" altLang="en-US">
                <a:ea typeface="Microsoft YaHei UI" panose="020B0503020204020204" charset="-122"/>
              </a:rPr>
              <a:t>应处理页面加载并定位正确记录。</a:t>
            </a:r>
            <a:r>
              <a:rPr lang="en-US" altLang="zh-CN">
                <a:ea typeface="Microsoft YaHei UI" panose="020B0503020204020204" charset="-122"/>
              </a:rPr>
              <a:t>SIGNED_OFF </a:t>
            </a:r>
            <a:r>
              <a:rPr lang="zh-CN" altLang="en-US">
                <a:ea typeface="Microsoft YaHei UI" panose="020B0503020204020204" charset="-122"/>
              </a:rPr>
              <a:t>是预期值的示意，真实状态名称和权限规则要根据项目确认。它没有表达</a:t>
            </a:r>
            <a:r>
              <a:rPr lang="en-US" altLang="zh-CN">
                <a:ea typeface="Microsoft YaHei UI" panose="020B0503020204020204" charset="-122"/>
              </a:rPr>
              <a:t>“</a:t>
            </a:r>
            <a:r>
              <a:rPr lang="zh-CN" altLang="en-US">
                <a:ea typeface="Microsoft YaHei UI" panose="020B0503020204020204" charset="-122"/>
              </a:rPr>
              <a:t>签完以后自动进入下一阶段</a:t>
            </a:r>
            <a:r>
              <a:rPr lang="en-US" altLang="zh-CN">
                <a:ea typeface="Microsoft YaHei UI" panose="020B0503020204020204" charset="-122"/>
              </a:rPr>
              <a:t>”</a:t>
            </a:r>
            <a:r>
              <a:rPr lang="zh-CN" altLang="en-US">
                <a:ea typeface="Microsoft YaHei UI" panose="020B0503020204020204" charset="-122"/>
              </a:rPr>
              <a:t>这样的假设。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zh-CN" altLang="zh-CN">
                <a:ea typeface="Microsoft YaHei UI" panose="020B0503020204020204" charset="-122"/>
              </a:rPr>
              <a:t>以后</a:t>
            </a:r>
            <a:r>
              <a:rPr lang="en-US" altLang="zh-CN">
                <a:ea typeface="Microsoft YaHei UI" panose="020B0503020204020204" charset="-122"/>
              </a:rPr>
              <a:t> sign-off </a:t>
            </a:r>
            <a:r>
              <a:rPr lang="zh-CN" altLang="en-US">
                <a:ea typeface="Microsoft YaHei UI" panose="020B0503020204020204" charset="-122"/>
              </a:rPr>
              <a:t>的相关实现修改了，就可以重跑这一场景做</a:t>
            </a:r>
            <a:r>
              <a:rPr lang="en-US" altLang="zh-CN">
                <a:ea typeface="Microsoft YaHei UI" panose="020B0503020204020204" charset="-122"/>
              </a:rPr>
              <a:t> regression</a:t>
            </a:r>
            <a:r>
              <a:rPr lang="zh-CN" altLang="en-US">
                <a:ea typeface="Microsoft YaHei UI" panose="020B0503020204020204" charset="-122"/>
              </a:rPr>
              <a:t>，再根据改动增加其他相关角色、权限和阶段规则的检查。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zh-CN" altLang="zh-CN">
                <a:ea typeface="Microsoft YaHei UI" panose="020B0503020204020204" charset="-122"/>
              </a:rPr>
              <a:t>感谢欧阳这位</a:t>
            </a:r>
            <a:r>
              <a:rPr lang="en-US" altLang="zh-CN">
                <a:ea typeface="Microsoft YaHei UI" panose="020B0503020204020204" charset="-122"/>
              </a:rPr>
              <a:t> QA </a:t>
            </a:r>
            <a:r>
              <a:rPr lang="zh-CN" altLang="en-US">
                <a:ea typeface="Microsoft YaHei UI" panose="020B0503020204020204" charset="-122"/>
              </a:rPr>
              <a:t>前辈的指导和帮助。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en-US" altLang="zh-CN">
                <a:ea typeface="Microsoft YaHei UI" panose="020B0503020204020204" charset="-122"/>
              </a:rPr>
              <a:t>NPA </a:t>
            </a:r>
            <a:r>
              <a:rPr lang="zh-CN" altLang="en-US">
                <a:ea typeface="Microsoft YaHei UI" panose="020B0503020204020204" charset="-122"/>
              </a:rPr>
              <a:t>背景来自用户描述。方法名与状态值为教学示例，未接入项目运行。</a:t>
            </a:r>
            <a:r>
              <a:rPr lang="en-US" altLang="zh-CN">
                <a:ea typeface="Microsoft YaHei UI" panose="020B0503020204020204" charset="-122"/>
              </a:rPr>
              <a:t>Serenity </a:t>
            </a:r>
            <a:r>
              <a:rPr lang="zh-CN" altLang="en-US">
                <a:ea typeface="Microsoft YaHei UI" panose="020B0503020204020204" charset="-122"/>
              </a:rPr>
              <a:t>集成参考：</a:t>
            </a:r>
            <a:r>
              <a:rPr lang="en-US" altLang="zh-CN">
                <a:ea typeface="Microsoft YaHei UI" panose="020B0503020204020204" charset="-122"/>
              </a:rPr>
              <a:t>https://serenity-bdd.github.io/docs/tutorials/first_test</a:t>
            </a:r>
            <a:endParaRPr lang="en-US" altLang="zh-CN">
              <a:ea typeface="Microsoft YaHei UI" panose="020B0503020204020204" charset="-122"/>
            </a:endParaRPr>
          </a:p>
          <a:p>
            <a:r>
              <a:rPr lang="en-US" altLang="zh-CN">
                <a:ea typeface="Microsoft YaHei UI" panose="020B0503020204020204" charset="-122"/>
              </a:rPr>
              <a:t>Cucumber Steps</a:t>
            </a:r>
            <a:r>
              <a:rPr lang="zh-CN" altLang="en-US">
                <a:ea typeface="Microsoft YaHei UI" panose="020B0503020204020204" charset="-122"/>
              </a:rPr>
              <a:t>：</a:t>
            </a:r>
            <a:r>
              <a:rPr lang="en-US" altLang="zh-CN">
                <a:ea typeface="Microsoft YaHei UI" panose="020B0503020204020204" charset="-122"/>
              </a:rPr>
              <a:t>https://cucumber.io/docs/cucumber/api/</a:t>
            </a:r>
            <a:endParaRPr lang="en-US" altLang="zh-CN">
              <a:ea typeface="Microsoft YaHei UI" panose="020B0503020204020204" charset="-122"/>
            </a:endParaRPr>
          </a:p>
          <a:p>
            <a:endParaRPr lang="en-US" altLang="zh-CN">
              <a:ea typeface="Microsoft YaHei UI" panose="020B0503020204020204" charset="-122"/>
            </a:endParaRPr>
          </a:p>
          <a:p>
            <a:r>
              <a:rPr lang="zh-CN" altLang="zh-CN">
                <a:ea typeface="Microsoft YaHei UI" panose="020B0503020204020204" charset="-122"/>
              </a:rPr>
              <a:t>最后一页可按代码顺序讲解：先用独立</a:t>
            </a:r>
            <a:r>
              <a:rPr lang="en-US" altLang="zh-CN">
                <a:ea typeface="Microsoft YaHei UI" panose="020B0503020204020204" charset="-122"/>
              </a:rPr>
              <a:t> proposal </a:t>
            </a:r>
            <a:r>
              <a:rPr lang="zh-CN" altLang="en-US">
                <a:ea typeface="Microsoft YaHei UI" panose="020B0503020204020204" charset="-122"/>
              </a:rPr>
              <a:t>和有权限的用户建立前置条件，</a:t>
            </a:r>
            <a:r>
              <a:rPr lang="en-US" altLang="zh-CN">
                <a:ea typeface="Microsoft YaHei UI" panose="020B0503020204020204" charset="-122"/>
              </a:rPr>
              <a:t>proposalId </a:t>
            </a:r>
            <a:r>
              <a:rPr lang="zh-CN" altLang="en-US">
                <a:ea typeface="Microsoft YaHei UI" panose="020B0503020204020204" charset="-122"/>
              </a:rPr>
              <a:t>保证操作与断言指向同一条记录。</a:t>
            </a:r>
            <a:r>
              <a:rPr lang="en-US" altLang="zh-CN">
                <a:ea typeface="Microsoft YaHei UI" panose="020B0503020204020204" charset="-122"/>
              </a:rPr>
              <a:t>When </a:t>
            </a:r>
            <a:r>
              <a:rPr lang="zh-CN" altLang="en-US">
                <a:ea typeface="Microsoft YaHei UI" panose="020B0503020204020204" charset="-122"/>
              </a:rPr>
              <a:t>执行</a:t>
            </a:r>
            <a:r>
              <a:rPr lang="en-US" altLang="zh-CN">
                <a:ea typeface="Microsoft YaHei UI" panose="020B0503020204020204" charset="-122"/>
              </a:rPr>
              <a:t> Unit A sign-off</a:t>
            </a:r>
            <a:r>
              <a:rPr lang="zh-CN" altLang="en-US">
                <a:ea typeface="Microsoft YaHei UI" panose="020B0503020204020204" charset="-122"/>
              </a:rPr>
              <a:t>；</a:t>
            </a:r>
            <a:r>
              <a:rPr lang="en-US" altLang="zh-CN">
                <a:ea typeface="Microsoft YaHei UI" panose="020B0503020204020204" charset="-122"/>
              </a:rPr>
              <a:t>Then </a:t>
            </a:r>
            <a:r>
              <a:rPr lang="zh-CN" altLang="en-US">
                <a:ea typeface="Microsoft YaHei UI" panose="020B0503020204020204" charset="-122"/>
              </a:rPr>
              <a:t>重新打开该</a:t>
            </a:r>
            <a:r>
              <a:rPr lang="en-US" altLang="zh-CN">
                <a:ea typeface="Microsoft YaHei UI" panose="020B0503020204020204" charset="-122"/>
              </a:rPr>
              <a:t> proposal</a:t>
            </a:r>
            <a:r>
              <a:rPr lang="zh-CN" altLang="en-US">
                <a:ea typeface="Microsoft YaHei UI" panose="020B0503020204020204" charset="-122"/>
              </a:rPr>
              <a:t>，读取</a:t>
            </a:r>
            <a:r>
              <a:rPr lang="en-US" altLang="zh-CN">
                <a:ea typeface="Microsoft YaHei UI" panose="020B0503020204020204" charset="-122"/>
              </a:rPr>
              <a:t> Unit A </a:t>
            </a:r>
            <a:r>
              <a:rPr lang="zh-CN" altLang="en-US">
                <a:ea typeface="Microsoft YaHei UI" panose="020B0503020204020204" charset="-122"/>
              </a:rPr>
              <a:t>的状态并比较预期。重新打开是为了验证保存后的状态。页面读取方法应等待加载完成，否则可能读到旧状态。这个示例只检查一个</a:t>
            </a:r>
            <a:r>
              <a:rPr lang="en-US" altLang="zh-CN">
                <a:ea typeface="Microsoft YaHei UI" panose="020B0503020204020204" charset="-122"/>
              </a:rPr>
              <a:t> unit </a:t>
            </a:r>
            <a:r>
              <a:rPr lang="zh-CN" altLang="en-US">
                <a:ea typeface="Microsoft YaHei UI" panose="020B0503020204020204" charset="-122"/>
              </a:rPr>
              <a:t>的保存，不推断整个</a:t>
            </a:r>
            <a:r>
              <a:rPr lang="en-US" altLang="zh-CN">
                <a:ea typeface="Microsoft YaHei UI" panose="020B0503020204020204" charset="-122"/>
              </a:rPr>
              <a:t> proposal </a:t>
            </a:r>
            <a:r>
              <a:rPr lang="zh-CN" altLang="en-US">
                <a:ea typeface="Microsoft YaHei UI" panose="020B0503020204020204" charset="-122"/>
              </a:rPr>
              <a:t>的下一阶段。</a:t>
            </a:r>
            <a:endParaRPr lang="zh-CN" altLang="en-US">
              <a:ea typeface="Microsoft YaHei UI" panose="020B050302020402020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2" Type="http://schemas.openxmlformats.org/officeDocument/2006/relationships/notesSlide" Target="../notesSlides/notesSlide2.x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10.png"/><Relationship Id="rId2" Type="http://schemas.openxmlformats.org/officeDocument/2006/relationships/image" Target="../media/image6.png"/><Relationship Id="rId19" Type="http://schemas.openxmlformats.org/officeDocument/2006/relationships/tags" Target="../tags/tag14.xml"/><Relationship Id="rId18" Type="http://schemas.openxmlformats.org/officeDocument/2006/relationships/image" Target="../media/image9.png"/><Relationship Id="rId17" Type="http://schemas.openxmlformats.org/officeDocument/2006/relationships/tags" Target="../tags/tag13.xml"/><Relationship Id="rId16" Type="http://schemas.openxmlformats.org/officeDocument/2006/relationships/image" Target="../media/image8.png"/><Relationship Id="rId15" Type="http://schemas.openxmlformats.org/officeDocument/2006/relationships/tags" Target="../tags/tag12.xml"/><Relationship Id="rId14" Type="http://schemas.openxmlformats.org/officeDocument/2006/relationships/image" Target="../media/image7.png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464235" y="-8297822"/>
            <a:ext cx="14293413" cy="14293413"/>
          </a:xfrm>
          <a:custGeom>
            <a:avLst/>
            <a:gdLst/>
            <a:ahLst/>
            <a:cxnLst/>
            <a:rect l="l" t="t" r="r" b="b"/>
            <a:pathLst>
              <a:path w="14293413" h="14293413">
                <a:moveTo>
                  <a:pt x="0" y="0"/>
                </a:moveTo>
                <a:lnTo>
                  <a:pt x="14293413" y="0"/>
                </a:lnTo>
                <a:lnTo>
                  <a:pt x="14293413" y="14293413"/>
                </a:lnTo>
                <a:lnTo>
                  <a:pt x="0" y="142934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048500" y="9271000"/>
            <a:ext cx="4254500" cy="5715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submit()</a:t>
            </a:r>
            <a:endParaRPr lang="en-US" sz="23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</p:txBody>
      </p:sp>
      <p:sp>
        <p:nvSpPr>
          <p:cNvPr id="5" name="AutoShape 5"/>
          <p:cNvSpPr/>
          <p:nvPr/>
        </p:nvSpPr>
        <p:spPr>
          <a:xfrm flipH="1">
            <a:off x="6443663" y="6376591"/>
            <a:ext cx="0" cy="2776973"/>
          </a:xfrm>
          <a:prstGeom prst="line">
            <a:avLst/>
          </a:prstGeom>
          <a:ln w="19050" cap="flat">
            <a:solidFill>
              <a:srgbClr val="2E2B2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H="1">
            <a:off x="11853862" y="6376591"/>
            <a:ext cx="0" cy="2776973"/>
          </a:xfrm>
          <a:prstGeom prst="line">
            <a:avLst/>
          </a:prstGeom>
          <a:ln w="19050" cap="flat">
            <a:solidFill>
              <a:srgbClr val="2E2B2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028700" y="504825"/>
            <a:ext cx="16230600" cy="8255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90" b="1">
                <a:solidFill>
                  <a:srgbClr val="292929"/>
                </a:solidFill>
                <a:latin typeface="IBM Plex Mono Bold" panose="020B0809050203000203" charset="0"/>
                <a:ea typeface="Microsoft YaHei UI" panose="020B0503020204020204" charset="-122"/>
                <a:cs typeface="IBM Plex Mono Bold" panose="020B0809050203000203" charset="0"/>
                <a:sym typeface="IBM Plex Mono Bold" panose="020B0809050203000203"/>
              </a:rPr>
              <a:t>Testing &amp; Test Cases</a:t>
            </a:r>
            <a:endParaRPr lang="en-US" sz="4490" b="1">
              <a:solidFill>
                <a:srgbClr val="292929"/>
              </a:solidFill>
              <a:latin typeface="IBM Plex Mono Bold" panose="020B0809050203000203" charset="0"/>
              <a:ea typeface="Microsoft YaHei UI" panose="020B0503020204020204" charset="-122"/>
              <a:cs typeface="IBM Plex Mono Bold" panose="020B0809050203000203" charset="0"/>
              <a:sym typeface="IBM Plex Mono Bold" panose="020B0809050203000203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1613295"/>
            <a:ext cx="16230600" cy="17145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Testing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：依据需求确定</a:t>
            </a: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 expected result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，再观察</a:t>
            </a: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 actual result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是否一致；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发现差异后保留证据，帮助定位原因。通过只说明已检查的情况符合预期。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Test case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：写清前置状态、输入、步骤和预期，让同一检查能被别人复现。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Assertion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：把预期写成会失败的代码判断，例如提示正确、数据确实保存。</a:t>
            </a:r>
            <a:endParaRPr lang="zh-CN" altLang="en-US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6540500"/>
            <a:ext cx="4699000" cy="10160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 b="1">
                <a:solidFill>
                  <a:srgbClr val="292929"/>
                </a:solidFill>
                <a:latin typeface="IBM Plex Mono Bold" panose="020B0809050203000203" charset="0"/>
                <a:ea typeface="Microsoft YaHei UI" panose="020B0503020204020204" charset="-122"/>
                <a:cs typeface="IBM Plex Mono Bold" panose="020B0809050203000203" charset="0"/>
                <a:sym typeface="IBM Plex Mono Medium" panose="020B0609050203000203"/>
              </a:rPr>
              <a:t>Given</a:t>
            </a:r>
            <a:endParaRPr lang="en-US" sz="5800" b="1">
              <a:solidFill>
                <a:srgbClr val="292929"/>
              </a:solidFill>
              <a:latin typeface="IBM Plex Mono Bold" panose="020B0809050203000203" charset="0"/>
              <a:ea typeface="Microsoft YaHei UI" panose="020B0503020204020204" charset="-122"/>
              <a:cs typeface="IBM Plex Mono Bold" panose="020B0809050203000203" charset="0"/>
              <a:sym typeface="IBM Plex Mono Medium" panose="020B0609050203000203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7642723"/>
            <a:ext cx="4635500" cy="15621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 Medium" panose="020B0609050203000203"/>
              </a:rPr>
              <a:t>假设</a:t>
            </a:r>
            <a:r>
              <a:rPr lang="en-US" altLang="zh-CN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 Medium" panose="020B0609050203000203"/>
              </a:rPr>
              <a:t> name </a:t>
            </a:r>
            <a:r>
              <a:rPr lang="zh-CN" altLang="en-US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 Medium" panose="020B0609050203000203"/>
              </a:rPr>
              <a:t>是必填字段。</a:t>
            </a:r>
            <a:endParaRPr lang="en-US" altLang="zh-CN" sz="23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 Medium" panose="020B06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 Medium" panose="020B0609050203000203"/>
              </a:rPr>
              <a:t>留空，其余字段合法；</a:t>
            </a:r>
            <a:endParaRPr lang="en-US" altLang="zh-CN" sz="23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 Medium" panose="020B06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 Medium" panose="020B0609050203000203"/>
              </a:rPr>
              <a:t>用户已登录、允许提交，</a:t>
            </a:r>
            <a:endParaRPr lang="en-US" altLang="zh-CN" sz="23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 Medium" panose="020B06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 Medium" panose="020B0609050203000203"/>
              </a:rPr>
              <a:t>避免其他错误干扰结果。</a:t>
            </a:r>
            <a:endParaRPr lang="zh-CN" altLang="zh-CN" sz="23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 Medium" panose="020B06090502030002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9271000"/>
            <a:ext cx="4635500" cy="5715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name = ""</a:t>
            </a:r>
            <a:endParaRPr lang="en-US" sz="23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048500" y="6540500"/>
            <a:ext cx="4191000" cy="10160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 b="1">
                <a:solidFill>
                  <a:srgbClr val="292929"/>
                </a:solidFill>
                <a:latin typeface="IBM Plex Mono Bold" panose="020B0809050203000203" charset="0"/>
                <a:ea typeface="Microsoft YaHei UI" panose="020B0503020204020204" charset="-122"/>
                <a:cs typeface="IBM Plex Mono Bold" panose="020B0809050203000203" charset="0"/>
                <a:sym typeface="IBM Plex Mono Medium" panose="020B0609050203000203"/>
              </a:rPr>
              <a:t>When</a:t>
            </a:r>
            <a:endParaRPr lang="en-US" sz="5800" b="1">
              <a:solidFill>
                <a:srgbClr val="292929"/>
              </a:solidFill>
              <a:latin typeface="IBM Plex Mono Bold" panose="020B0809050203000203" charset="0"/>
              <a:ea typeface="Microsoft YaHei UI" panose="020B0503020204020204" charset="-122"/>
              <a:cs typeface="IBM Plex Mono Bold" panose="020B0809050203000203" charset="0"/>
              <a:sym typeface="IBM Plex Mono Medium" panose="020B0609050203000203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048500" y="7642723"/>
            <a:ext cx="4254500" cy="15621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 Medium" panose="020B0609050203000203"/>
              </a:rPr>
              <a:t>点击</a:t>
            </a:r>
            <a:r>
              <a:rPr lang="en-US" altLang="zh-CN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 Medium" panose="020B0609050203000203"/>
              </a:rPr>
              <a:t> Submit </a:t>
            </a:r>
            <a:r>
              <a:rPr lang="zh-CN" altLang="en-US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 Medium" panose="020B0609050203000203"/>
              </a:rPr>
              <a:t>提交表单，</a:t>
            </a:r>
            <a:endParaRPr lang="en-US" altLang="zh-CN" sz="23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 Medium" panose="020B06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 Medium" panose="020B0609050203000203"/>
              </a:rPr>
              <a:t>触发实际的校验流程。</a:t>
            </a:r>
            <a:endParaRPr lang="en-US" altLang="zh-CN" sz="23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 Medium" panose="020B06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 Medium" panose="020B0609050203000203"/>
              </a:rPr>
              <a:t>等待校验结果出现，</a:t>
            </a:r>
            <a:endParaRPr lang="en-US" altLang="zh-CN" sz="23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 Medium" panose="020B06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 Medium" panose="020B0609050203000203"/>
              </a:rPr>
              <a:t>再读取提示和保存结果。</a:t>
            </a:r>
            <a:endParaRPr lang="zh-CN" altLang="zh-CN" sz="23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 Medium" panose="020B0609050203000203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458700" y="6540500"/>
            <a:ext cx="4699000" cy="10160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 b="1">
                <a:solidFill>
                  <a:srgbClr val="292929"/>
                </a:solidFill>
                <a:latin typeface="IBM Plex Mono Bold" panose="020B0809050203000203" charset="0"/>
                <a:ea typeface="Microsoft YaHei UI" panose="020B0503020204020204" charset="-122"/>
                <a:cs typeface="IBM Plex Mono Bold" panose="020B0809050203000203" charset="0"/>
                <a:sym typeface="IBM Plex Mono Medium" panose="020B0609050203000203"/>
              </a:rPr>
              <a:t>Then</a:t>
            </a:r>
            <a:endParaRPr lang="en-US" sz="5800" b="1">
              <a:solidFill>
                <a:srgbClr val="292929"/>
              </a:solidFill>
              <a:latin typeface="IBM Plex Mono Bold" panose="020B0809050203000203" charset="0"/>
              <a:ea typeface="Microsoft YaHei UI" panose="020B0503020204020204" charset="-122"/>
              <a:cs typeface="IBM Plex Mono Bold" panose="020B0809050203000203" charset="0"/>
              <a:sym typeface="IBM Plex Mono Medium" panose="020B0609050203000203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458700" y="7642723"/>
            <a:ext cx="4699000" cy="15621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 Medium" panose="020B0609050203000203"/>
              </a:rPr>
              <a:t>应显示</a:t>
            </a:r>
            <a:r>
              <a:rPr lang="en-US" altLang="zh-CN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 Medium" panose="020B0609050203000203"/>
              </a:rPr>
              <a:t> name </a:t>
            </a:r>
            <a:r>
              <a:rPr lang="zh-CN" altLang="en-US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 Medium" panose="020B0609050203000203"/>
              </a:rPr>
              <a:t>的必填提示，</a:t>
            </a:r>
            <a:endParaRPr lang="en-US" altLang="zh-CN" sz="23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 Medium" panose="020B06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 Medium" panose="020B0609050203000203"/>
              </a:rPr>
              <a:t>并拒绝保存这条记录。</a:t>
            </a:r>
            <a:endParaRPr lang="en-US" altLang="zh-CN" sz="23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 Medium" panose="020B06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 Medium" panose="020B0609050203000203"/>
              </a:rPr>
              <a:t>同时检查提示和未保存，</a:t>
            </a:r>
            <a:endParaRPr lang="en-US" altLang="zh-CN" sz="23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 Medium" panose="020B06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 Medium" panose="020B0609050203000203"/>
              </a:rPr>
              <a:t>验证完整的业务预期。</a:t>
            </a:r>
            <a:endParaRPr lang="zh-CN" altLang="zh-CN" sz="23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 Medium" panose="020B0609050203000203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458700" y="9271000"/>
            <a:ext cx="4699000" cy="5715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error == REQUIRED</a:t>
            </a:r>
            <a:endParaRPr lang="en-US" sz="23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28700" y="3606800"/>
            <a:ext cx="16230600" cy="863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Unit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验证局部规则，如必填校验；</a:t>
            </a: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Integration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验证组件协作，如接口写入数据。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</a:endParaRPr>
          </a:p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System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检查完整系统行为；</a:t>
            </a: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Acceptance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根据业务验收条件判断是否满足需求。</a:t>
            </a:r>
            <a:endParaRPr lang="zh-CN" altLang="en-US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28700" y="4597400"/>
            <a:ext cx="16230600" cy="431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Static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：不运行程序，评审需求或代码；</a:t>
            </a: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Dynamic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：运行程序，观察实际结果。</a:t>
            </a:r>
            <a:endParaRPr lang="zh-CN" altLang="en-US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28700" y="5118100"/>
            <a:ext cx="16230600" cy="431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Functional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检查功能结果；</a:t>
            </a: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Non-functional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检查性能、安全和可靠性等质量属性。</a:t>
            </a:r>
            <a:endParaRPr lang="zh-CN" altLang="en-US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</a:endParaRPr>
          </a:p>
        </p:txBody>
      </p:sp>
      <p:pic>
        <p:nvPicPr>
          <p:cNvPr id="20" name="png:given" descr="Testing diagram: giv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500" y="6807200"/>
            <a:ext cx="508000" cy="508000"/>
          </a:xfrm>
          <a:prstGeom prst="rect">
            <a:avLst/>
          </a:prstGeom>
        </p:spPr>
      </p:pic>
      <p:pic>
        <p:nvPicPr>
          <p:cNvPr id="21" name="png:when" descr="Testing diagram: wh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6807200"/>
            <a:ext cx="508000" cy="508000"/>
          </a:xfrm>
          <a:prstGeom prst="rect">
            <a:avLst/>
          </a:prstGeom>
        </p:spPr>
      </p:pic>
      <p:pic>
        <p:nvPicPr>
          <p:cNvPr id="22" name="png:then" descr="Testing diagram: the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21000" y="6807200"/>
            <a:ext cx="5080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263210" y="-4434010"/>
            <a:ext cx="14293413" cy="14293413"/>
          </a:xfrm>
          <a:custGeom>
            <a:avLst/>
            <a:gdLst/>
            <a:ahLst/>
            <a:cxnLst/>
            <a:rect l="l" t="t" r="r" b="b"/>
            <a:pathLst>
              <a:path w="14293413" h="14293413">
                <a:moveTo>
                  <a:pt x="0" y="0"/>
                </a:moveTo>
                <a:lnTo>
                  <a:pt x="14293412" y="0"/>
                </a:lnTo>
                <a:lnTo>
                  <a:pt x="14293412" y="14293413"/>
                </a:lnTo>
                <a:lnTo>
                  <a:pt x="0" y="142934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428625"/>
            <a:ext cx="16230600" cy="8255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90" b="1">
                <a:solidFill>
                  <a:srgbClr val="292929"/>
                </a:solidFill>
                <a:latin typeface="IBM Plex Mono Bold" panose="020B0809050203000203" charset="0"/>
                <a:ea typeface="Microsoft YaHei UI" panose="020B0503020204020204" charset="-122"/>
                <a:cs typeface="IBM Plex Mono Bold" panose="020B0809050203000203" charset="0"/>
                <a:sym typeface="IBM Plex Mono Bold" panose="020B0809050203000203"/>
              </a:rPr>
              <a:t>Automation Testing</a:t>
            </a:r>
            <a:endParaRPr lang="en-US" sz="4490" b="1">
              <a:solidFill>
                <a:srgbClr val="292929"/>
              </a:solidFill>
              <a:latin typeface="IBM Plex Mono Bold" panose="020B0809050203000203" charset="0"/>
              <a:ea typeface="Microsoft YaHei UI" panose="020B0503020204020204" charset="-122"/>
              <a:cs typeface="IBM Plex Mono Bold" panose="020B0809050203000203" charset="0"/>
              <a:sym typeface="IBM Plex Mono Bold" panose="020B0809050203000203"/>
            </a:endParaRPr>
          </a:p>
        </p:txBody>
      </p:sp>
      <p:sp>
        <p:nvSpPr>
          <p:cNvPr id="5" name="TextBox 5"/>
          <p:cNvSpPr txBox="1"/>
          <p:nvPr>
            <p:custDataLst>
              <p:tags r:id="rId3"/>
            </p:custDataLst>
          </p:nvPr>
        </p:nvSpPr>
        <p:spPr>
          <a:xfrm>
            <a:off x="1028700" y="4108378"/>
            <a:ext cx="7302500" cy="17780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为每条</a:t>
            </a: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 case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设置环境、用户与初始数据。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例：创建独立记录，明确开始时的状态。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fixture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封装准备，避免依赖别的用例。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结束后清理数据，让每次运行可复现。</a:t>
            </a:r>
            <a:endParaRPr lang="zh-CN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</p:txBody>
      </p:sp>
      <p:sp>
        <p:nvSpPr>
          <p:cNvPr id="6" name="TextBox 6"/>
          <p:cNvSpPr txBox="1"/>
          <p:nvPr>
            <p:custDataLst>
              <p:tags r:id="rId4"/>
            </p:custDataLst>
          </p:nvPr>
        </p:nvSpPr>
        <p:spPr>
          <a:xfrm>
            <a:off x="1663700" y="3427341"/>
            <a:ext cx="6667500" cy="5334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30" b="1">
                <a:solidFill>
                  <a:srgbClr val="292929"/>
                </a:solidFill>
                <a:latin typeface="IBM Plex Mono Bold" panose="020B0809050203000203" charset="0"/>
                <a:ea typeface="Microsoft YaHei UI" panose="020B0503020204020204" charset="-122"/>
                <a:cs typeface="IBM Plex Mono Bold" panose="020B0809050203000203" charset="0"/>
                <a:sym typeface="IBM Plex Mono Medium" panose="020B0609050203000203"/>
              </a:rPr>
              <a:t>01 Prepare</a:t>
            </a:r>
            <a:endParaRPr lang="en-US" sz="3230" b="1">
              <a:solidFill>
                <a:srgbClr val="292929"/>
              </a:solidFill>
              <a:latin typeface="IBM Plex Mono Bold" panose="020B0809050203000203" charset="0"/>
              <a:ea typeface="Microsoft YaHei UI" panose="020B0503020204020204" charset="-122"/>
              <a:cs typeface="IBM Plex Mono Bold" panose="020B0809050203000203" charset="0"/>
              <a:sym typeface="IBM Plex Mono Medium" panose="020B0609050203000203"/>
            </a:endParaRPr>
          </a:p>
        </p:txBody>
      </p:sp>
      <p:sp>
        <p:nvSpPr>
          <p:cNvPr id="7" name="TextBox 7"/>
          <p:cNvSpPr txBox="1"/>
          <p:nvPr>
            <p:custDataLst>
              <p:tags r:id="rId5"/>
            </p:custDataLst>
          </p:nvPr>
        </p:nvSpPr>
        <p:spPr>
          <a:xfrm>
            <a:off x="9963150" y="4108378"/>
            <a:ext cx="7302500" cy="17780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Steps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调用</a:t>
            </a: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 API Client / Page Object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将点击、请求、读取封装成可复用方法。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UI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等待元素可用或状态更新，并设超时。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固定</a:t>
            </a: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 sleep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可能过短，也会浪费时间。</a:t>
            </a:r>
            <a:endParaRPr lang="zh-CN" altLang="en-US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</p:txBody>
      </p:sp>
      <p:sp>
        <p:nvSpPr>
          <p:cNvPr id="8" name="TextBox 8"/>
          <p:cNvSpPr txBox="1"/>
          <p:nvPr>
            <p:custDataLst>
              <p:tags r:id="rId6"/>
            </p:custDataLst>
          </p:nvPr>
        </p:nvSpPr>
        <p:spPr>
          <a:xfrm>
            <a:off x="10598150" y="3427341"/>
            <a:ext cx="6667500" cy="5334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30" b="1">
                <a:solidFill>
                  <a:srgbClr val="292929"/>
                </a:solidFill>
                <a:latin typeface="IBM Plex Mono Bold" panose="020B0809050203000203" charset="0"/>
                <a:ea typeface="Microsoft YaHei UI" panose="020B0503020204020204" charset="-122"/>
                <a:cs typeface="IBM Plex Mono Bold" panose="020B0809050203000203" charset="0"/>
                <a:sym typeface="IBM Plex Mono Medium" panose="020B0609050203000203"/>
              </a:rPr>
              <a:t>02 Execute</a:t>
            </a:r>
            <a:endParaRPr lang="en-US" sz="3230" b="1">
              <a:solidFill>
                <a:srgbClr val="292929"/>
              </a:solidFill>
              <a:latin typeface="IBM Plex Mono Bold" panose="020B0809050203000203" charset="0"/>
              <a:ea typeface="Microsoft YaHei UI" panose="020B0503020204020204" charset="-122"/>
              <a:cs typeface="IBM Plex Mono Bold" panose="020B0809050203000203" charset="0"/>
              <a:sym typeface="IBM Plex Mono Medium" panose="020B0609050203000203"/>
            </a:endParaRPr>
          </a:p>
        </p:txBody>
      </p:sp>
      <p:sp>
        <p:nvSpPr>
          <p:cNvPr id="9" name="TextBox 9"/>
          <p:cNvSpPr txBox="1"/>
          <p:nvPr>
            <p:custDataLst>
              <p:tags r:id="rId7"/>
            </p:custDataLst>
          </p:nvPr>
        </p:nvSpPr>
        <p:spPr>
          <a:xfrm>
            <a:off x="1028700" y="7340461"/>
            <a:ext cx="7302500" cy="20701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expected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来自需求，断言失败让</a:t>
            </a: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 case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失败。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API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核对状态码、</a:t>
            </a: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body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和业务状态。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UI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读取目标记录，核对保存后的结果。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例：有成功提示，但未保存，仍应失败。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只检查没有异常，会漏掉业务结果错误。</a:t>
            </a:r>
            <a:endParaRPr lang="zh-CN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</p:txBody>
      </p:sp>
      <p:sp>
        <p:nvSpPr>
          <p:cNvPr id="10" name="TextBox 10"/>
          <p:cNvSpPr txBox="1"/>
          <p:nvPr>
            <p:custDataLst>
              <p:tags r:id="rId8"/>
            </p:custDataLst>
          </p:nvPr>
        </p:nvSpPr>
        <p:spPr>
          <a:xfrm>
            <a:off x="1663700" y="6659423"/>
            <a:ext cx="6667500" cy="5334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30" b="1">
                <a:solidFill>
                  <a:srgbClr val="292929"/>
                </a:solidFill>
                <a:latin typeface="IBM Plex Mono Bold" panose="020B0809050203000203" charset="0"/>
                <a:ea typeface="Microsoft YaHei UI" panose="020B0503020204020204" charset="-122"/>
                <a:cs typeface="IBM Plex Mono Bold" panose="020B0809050203000203" charset="0"/>
                <a:sym typeface="IBM Plex Mono Medium" panose="020B0609050203000203"/>
              </a:rPr>
              <a:t>03 Assert</a:t>
            </a:r>
            <a:endParaRPr lang="en-US" sz="3230" b="1">
              <a:solidFill>
                <a:srgbClr val="292929"/>
              </a:solidFill>
              <a:latin typeface="IBM Plex Mono Bold" panose="020B0809050203000203" charset="0"/>
              <a:ea typeface="Microsoft YaHei UI" panose="020B0503020204020204" charset="-122"/>
              <a:cs typeface="IBM Plex Mono Bold" panose="020B0809050203000203" charset="0"/>
              <a:sym typeface="IBM Plex Mono Medium" panose="020B0609050203000203"/>
            </a:endParaRPr>
          </a:p>
        </p:txBody>
      </p:sp>
      <p:sp>
        <p:nvSpPr>
          <p:cNvPr id="11" name="TextBox 11"/>
          <p:cNvSpPr txBox="1"/>
          <p:nvPr>
            <p:custDataLst>
              <p:tags r:id="rId9"/>
            </p:custDataLst>
          </p:nvPr>
        </p:nvSpPr>
        <p:spPr>
          <a:xfrm>
            <a:off x="9963150" y="7340461"/>
            <a:ext cx="7302500" cy="20701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Serenity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记录场景、失败步骤和相关证据。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请求</a:t>
            </a: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 /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响应或截图帮助还原实际结果。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先区分产品、脚本、数据或环境问题。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flaky test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指同一检查有时通过、有时失败。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修正数据与等待条件，</a:t>
            </a: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retry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不能代替分析。</a:t>
            </a:r>
            <a:endParaRPr lang="zh-CN" altLang="en-US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</p:txBody>
      </p:sp>
      <p:sp>
        <p:nvSpPr>
          <p:cNvPr id="12" name="TextBox 12"/>
          <p:cNvSpPr txBox="1"/>
          <p:nvPr>
            <p:custDataLst>
              <p:tags r:id="rId10"/>
            </p:custDataLst>
          </p:nvPr>
        </p:nvSpPr>
        <p:spPr>
          <a:xfrm>
            <a:off x="10598150" y="6659423"/>
            <a:ext cx="6667500" cy="5334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30" b="1">
                <a:solidFill>
                  <a:srgbClr val="292929"/>
                </a:solidFill>
                <a:latin typeface="IBM Plex Mono Bold" panose="020B0809050203000203" charset="0"/>
                <a:ea typeface="Microsoft YaHei UI" panose="020B0503020204020204" charset="-122"/>
                <a:cs typeface="IBM Plex Mono Bold" panose="020B0809050203000203" charset="0"/>
                <a:sym typeface="IBM Plex Mono Medium" panose="020B0609050203000203"/>
              </a:rPr>
              <a:t>04 Report</a:t>
            </a:r>
            <a:endParaRPr lang="en-US" sz="3230" b="1">
              <a:solidFill>
                <a:srgbClr val="292929"/>
              </a:solidFill>
              <a:latin typeface="IBM Plex Mono Bold" panose="020B0809050203000203" charset="0"/>
              <a:ea typeface="Microsoft YaHei UI" panose="020B0503020204020204" charset="-122"/>
              <a:cs typeface="IBM Plex Mono Bold" panose="020B0809050203000203" charset="0"/>
              <a:sym typeface="IBM Plex Mono Medium" panose="020B0609050203000203"/>
            </a:endParaRPr>
          </a:p>
        </p:txBody>
      </p:sp>
      <p:sp>
        <p:nvSpPr>
          <p:cNvPr id="13" name="AutoShape 13"/>
          <p:cNvSpPr/>
          <p:nvPr>
            <p:custDataLst>
              <p:tags r:id="rId11"/>
            </p:custDataLst>
          </p:nvPr>
        </p:nvSpPr>
        <p:spPr>
          <a:xfrm flipH="1">
            <a:off x="1028700" y="6061698"/>
            <a:ext cx="16230600" cy="0"/>
          </a:xfrm>
          <a:prstGeom prst="line">
            <a:avLst/>
          </a:prstGeom>
          <a:ln w="19050" cap="flat">
            <a:solidFill>
              <a:srgbClr val="2E2B2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>
            <p:custDataLst>
              <p:tags r:id="rId12"/>
            </p:custDataLst>
          </p:nvPr>
        </p:nvSpPr>
        <p:spPr>
          <a:xfrm>
            <a:off x="9144000" y="3098800"/>
            <a:ext cx="0" cy="6083300"/>
          </a:xfrm>
          <a:prstGeom prst="line">
            <a:avLst/>
          </a:prstGeom>
          <a:ln w="19050" cap="flat">
            <a:solidFill>
              <a:srgbClr val="2E2B2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文本框 14"/>
          <p:cNvSpPr txBox="1"/>
          <p:nvPr/>
        </p:nvSpPr>
        <p:spPr>
          <a:xfrm>
            <a:off x="1028700" y="1498600"/>
            <a:ext cx="16230600" cy="952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6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Automation</a:t>
            </a:r>
            <a:r>
              <a:rPr lang="zh-CN" altLang="en-US" sz="26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：工具执行预先定义的检查，测试代码决定</a:t>
            </a:r>
            <a:r>
              <a:rPr lang="en-US" altLang="zh-CN" sz="26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 expected result</a:t>
            </a:r>
            <a:r>
              <a:rPr lang="zh-CN" altLang="en-US" sz="26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。</a:t>
            </a:r>
            <a:endParaRPr lang="en-US" altLang="zh-CN" sz="26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</a:endParaRPr>
          </a:p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6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适合反复验证稳定规则；未知问题探索和体验判断仍需人工。</a:t>
            </a:r>
            <a:endParaRPr lang="zh-CN" altLang="zh-CN" sz="26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</a:endParaRPr>
          </a:p>
        </p:txBody>
      </p:sp>
      <p:pic>
        <p:nvPicPr>
          <p:cNvPr id="17" name="png:prepare" descr="Testing diagram: prepare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028700" y="3439795"/>
            <a:ext cx="431800" cy="431800"/>
          </a:xfrm>
          <a:prstGeom prst="rect">
            <a:avLst/>
          </a:prstGeom>
        </p:spPr>
      </p:pic>
      <p:pic>
        <p:nvPicPr>
          <p:cNvPr id="18" name="png:execute" descr="Testing diagram: execute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9963150" y="3439795"/>
            <a:ext cx="431800" cy="431800"/>
          </a:xfrm>
          <a:prstGeom prst="rect">
            <a:avLst/>
          </a:prstGeom>
        </p:spPr>
      </p:pic>
      <p:pic>
        <p:nvPicPr>
          <p:cNvPr id="19" name="png:assert" descr="Testing diagram: assert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1028700" y="6671945"/>
            <a:ext cx="431800" cy="431800"/>
          </a:xfrm>
          <a:prstGeom prst="rect">
            <a:avLst/>
          </a:prstGeom>
        </p:spPr>
      </p:pic>
      <p:pic>
        <p:nvPicPr>
          <p:cNvPr id="20" name="png:report" descr="Testing diagram: report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9963150" y="6671945"/>
            <a:ext cx="4318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937878" y="3902719"/>
            <a:ext cx="14293413" cy="14293413"/>
          </a:xfrm>
          <a:custGeom>
            <a:avLst/>
            <a:gdLst/>
            <a:ahLst/>
            <a:cxnLst/>
            <a:rect l="l" t="t" r="r" b="b"/>
            <a:pathLst>
              <a:path w="14293413" h="14293413">
                <a:moveTo>
                  <a:pt x="0" y="0"/>
                </a:moveTo>
                <a:lnTo>
                  <a:pt x="14293413" y="0"/>
                </a:lnTo>
                <a:lnTo>
                  <a:pt x="14293413" y="14293412"/>
                </a:lnTo>
                <a:lnTo>
                  <a:pt x="0" y="142934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352425"/>
            <a:ext cx="16230600" cy="8255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90" b="1">
                <a:solidFill>
                  <a:srgbClr val="292929"/>
                </a:solidFill>
                <a:latin typeface="IBM Plex Mono Bold" panose="020B0809050203000203" charset="0"/>
                <a:ea typeface="Microsoft YaHei UI" panose="020B0503020204020204" charset="-122"/>
                <a:cs typeface="IBM Plex Mono Bold" panose="020B0809050203000203" charset="0"/>
                <a:sym typeface="IBM Plex Mono Bold" panose="020B0809050203000203"/>
              </a:rPr>
              <a:t>Regression Testing</a:t>
            </a:r>
            <a:endParaRPr lang="en-US" sz="4490" b="1">
              <a:solidFill>
                <a:srgbClr val="292929"/>
              </a:solidFill>
              <a:latin typeface="IBM Plex Mono Bold" panose="020B0809050203000203" charset="0"/>
              <a:ea typeface="Microsoft YaHei UI" panose="020B0503020204020204" charset="-122"/>
              <a:cs typeface="IBM Plex Mono Bold" panose="020B0809050203000203" charset="0"/>
              <a:sym typeface="IBM Plex Mono Bold" panose="020B080905020300020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1460895"/>
            <a:ext cx="16230600" cy="10795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/>
                <a:sym typeface="IBM Plex Mono" panose="020B0509050203000203"/>
              </a:rPr>
              <a:t>变更后，检查应该保持的行为是否仍然正常。</a:t>
            </a:r>
            <a:endParaRPr lang="zh-CN" sz="28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/>
              <a:sym typeface="IBM Plex Mono" panose="020B0509050203000203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3606800"/>
            <a:ext cx="7302500" cy="5334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0" b="1">
                <a:solidFill>
                  <a:srgbClr val="292929"/>
                </a:solidFill>
                <a:latin typeface="IBM Plex Mono Bold" panose="020B0809050203000203" charset="0"/>
                <a:ea typeface="Microsoft YaHei UI" panose="020B0503020204020204" charset="-122"/>
                <a:cs typeface="IBM Plex Mono Bold" panose="020B0809050203000203" charset="0"/>
                <a:sym typeface="IBM Plex Mono Bold" panose="020B0809050203000203"/>
              </a:rPr>
              <a:t>Regression</a:t>
            </a:r>
            <a:endParaRPr lang="en-US" sz="2730" b="1">
              <a:solidFill>
                <a:srgbClr val="292929"/>
              </a:solidFill>
              <a:latin typeface="IBM Plex Mono Bold" panose="020B0809050203000203" charset="0"/>
              <a:ea typeface="Microsoft YaHei UI" panose="020B0503020204020204" charset="-122"/>
              <a:cs typeface="IBM Plex Mono Bold" panose="020B0809050203000203" charset="0"/>
              <a:sym typeface="IBM Plex Mono Bold" panose="020B0809050203000203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4191000"/>
            <a:ext cx="7302500" cy="12446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/>
                <a:sym typeface="IBM Plex Mono" panose="020B0509050203000203"/>
              </a:rPr>
              <a:t>检查变更是否破坏原本正常的行为。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/>
                <a:sym typeface="IBM Plex Mono" panose="020B0509050203000203"/>
              </a:rPr>
              <a:t>例：修复空值校验后，合法输入仍能保存。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/>
                <a:sym typeface="IBM Plex Mono" panose="020B0509050203000203"/>
              </a:rPr>
              <a:t>范围包含同一模块、共享规则和调用方。</a:t>
            </a:r>
            <a:endParaRPr lang="zh-CN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/>
              <a:sym typeface="IBM Plex Mono" panose="020B0509050203000203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5524500"/>
            <a:ext cx="7302500" cy="5334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0" b="1">
                <a:solidFill>
                  <a:srgbClr val="292929"/>
                </a:solidFill>
                <a:latin typeface="IBM Plex Mono Bold" panose="020B0809050203000203" charset="0"/>
                <a:ea typeface="Microsoft YaHei UI" panose="020B0503020204020204" charset="-122"/>
                <a:cs typeface="IBM Plex Mono Bold" panose="020B0809050203000203" charset="0"/>
                <a:sym typeface="IBM Plex Mono Bold" panose="020B0809050203000203"/>
              </a:rPr>
              <a:t>Confirmation / Retest</a:t>
            </a:r>
            <a:endParaRPr lang="en-US" sz="2730" b="1">
              <a:solidFill>
                <a:srgbClr val="292929"/>
              </a:solidFill>
              <a:latin typeface="IBM Plex Mono Bold" panose="020B0809050203000203" charset="0"/>
              <a:ea typeface="Microsoft YaHei UI" panose="020B0503020204020204" charset="-122"/>
              <a:cs typeface="IBM Plex Mono Bold" panose="020B0809050203000203" charset="0"/>
              <a:sym typeface="IBM Plex Mono Bold" panose="020B0809050203000203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6108700"/>
            <a:ext cx="7302500" cy="12446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/>
                <a:sym typeface="IBM Plex Mono" panose="020B0509050203000203"/>
              </a:rPr>
              <a:t>重跑发现原缺陷的用例，确认它已修复。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/>
                <a:sym typeface="IBM Plex Mono" panose="020B0509050203000203"/>
              </a:rPr>
              <a:t>例：空值曾被错误保存，修复后应被拒绝。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/>
                <a:sym typeface="IBM Plex Mono" panose="020B0509050203000203"/>
              </a:rPr>
              <a:t>这能确认原问题，却不能覆盖其他影响。</a:t>
            </a:r>
            <a:endParaRPr lang="zh-CN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/>
              <a:sym typeface="IBM Plex Mono" panose="020B05090502030002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7442200"/>
            <a:ext cx="7302500" cy="5334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0" b="1">
                <a:solidFill>
                  <a:srgbClr val="292929"/>
                </a:solidFill>
                <a:latin typeface="IBM Plex Mono Bold" panose="020B0809050203000203" charset="0"/>
                <a:ea typeface="Microsoft YaHei UI" panose="020B0503020204020204" charset="-122"/>
                <a:cs typeface="IBM Plex Mono Bold" panose="020B0809050203000203" charset="0"/>
                <a:sym typeface="IBM Plex Mono Bold" panose="020B0809050203000203"/>
              </a:rPr>
              <a:t>Smoke</a:t>
            </a:r>
            <a:endParaRPr lang="en-US" sz="2730" b="1">
              <a:solidFill>
                <a:srgbClr val="292929"/>
              </a:solidFill>
              <a:latin typeface="IBM Plex Mono Bold" panose="020B0809050203000203" charset="0"/>
              <a:ea typeface="Microsoft YaHei UI" panose="020B0503020204020204" charset="-122"/>
              <a:cs typeface="IBM Plex Mono Bold" panose="020B0809050203000203" charset="0"/>
              <a:sym typeface="IBM Plex Mono Bold" panose="020B0809050203000203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8026400"/>
            <a:ext cx="7302500" cy="12446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/>
                <a:sym typeface="IBM Plex Mono" panose="020B0509050203000203"/>
              </a:rPr>
              <a:t>用少量关键路径判断构建是否基本可用。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/>
                <a:sym typeface="IBM Plex Mono" panose="020B0509050203000203"/>
              </a:rPr>
              <a:t>例：能登录、打开页面并完成主要操作。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/>
                <a:sym typeface="IBM Plex Mono" panose="020B0509050203000203"/>
              </a:rPr>
              <a:t>通过后再跑广泛回归；通过不代表全正确。</a:t>
            </a:r>
            <a:endParaRPr lang="zh-CN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/>
              <a:sym typeface="IBM Plex Mono" panose="020B0509050203000203"/>
            </a:endParaRPr>
          </a:p>
        </p:txBody>
      </p:sp>
      <p:sp>
        <p:nvSpPr>
          <p:cNvPr id="13" name="AutoShape 13"/>
          <p:cNvSpPr/>
          <p:nvPr/>
        </p:nvSpPr>
        <p:spPr>
          <a:xfrm flipH="1" flipV="1">
            <a:off x="1028700" y="3216919"/>
            <a:ext cx="7326835" cy="0"/>
          </a:xfrm>
          <a:prstGeom prst="line">
            <a:avLst/>
          </a:prstGeom>
          <a:ln w="19050" cap="flat">
            <a:solidFill>
              <a:srgbClr val="2E2B2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文本框 13"/>
          <p:cNvSpPr txBox="1"/>
          <p:nvPr/>
        </p:nvSpPr>
        <p:spPr>
          <a:xfrm>
            <a:off x="1028700" y="2489200"/>
            <a:ext cx="16230600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6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Triggers: feature / bug fix / refactor / config</a:t>
            </a:r>
            <a:endParaRPr lang="en-US" altLang="en-US" sz="26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512300" y="3797300"/>
            <a:ext cx="7302500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730" b="1">
                <a:solidFill>
                  <a:srgbClr val="292929"/>
                </a:solidFill>
                <a:latin typeface="IBM Plex Mono Bold" panose="020B0809050203000203" charset="0"/>
                <a:ea typeface="Microsoft YaHei UI" panose="020B0503020204020204" charset="-122"/>
                <a:cs typeface="IBM Plex Mono Bold" panose="020B0809050203000203" charset="0"/>
              </a:rPr>
              <a:t>Purpose x Execution</a:t>
            </a:r>
            <a:endParaRPr lang="en-US" altLang="en-US" sz="2730" b="1">
              <a:solidFill>
                <a:srgbClr val="292929"/>
              </a:solidFill>
              <a:latin typeface="IBM Plex Mono Bold" panose="020B0809050203000203" charset="0"/>
              <a:ea typeface="Microsoft YaHei UI" panose="020B0503020204020204" charset="-122"/>
              <a:cs typeface="IBM Plex Mono Bold" panose="020B0809050203000203" charset="0"/>
            </a:endParaRPr>
          </a:p>
        </p:txBody>
      </p:sp>
      <p:graphicFrame>
        <p:nvGraphicFramePr>
          <p:cNvPr id="16" name="表格 15"/>
          <p:cNvGraphicFramePr/>
          <p:nvPr/>
        </p:nvGraphicFramePr>
        <p:xfrm>
          <a:off x="9512300" y="4686300"/>
          <a:ext cx="7296150" cy="247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/>
                <a:gridCol w="2413000"/>
                <a:gridCol w="2470150"/>
              </a:tblGrid>
              <a:tr h="825500">
                <a:tc>
                  <a:txBody>
                    <a:bodyPr wrap="square"/>
                    <a:p>
                      <a:pPr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2300" b="1">
                          <a:solidFill>
                            <a:srgbClr val="292929"/>
                          </a:solidFill>
                          <a:latin typeface="IBM Plex Mono Bold" panose="020B0809050203000203" charset="0"/>
                          <a:ea typeface="Microsoft YaHei UI" panose="020B0503020204020204" charset="-122"/>
                          <a:cs typeface="IBM Plex Mono Bold" panose="020B0809050203000203" charset="0"/>
                        </a:rPr>
                        <a:t>Purpose</a:t>
                      </a:r>
                      <a:endParaRPr lang="en-US" altLang="en-US" sz="2300" b="1">
                        <a:solidFill>
                          <a:srgbClr val="292929"/>
                        </a:solidFill>
                        <a:latin typeface="IBM Plex Mono Bold" panose="020B0809050203000203" charset="0"/>
                        <a:ea typeface="Microsoft YaHei UI" panose="020B0503020204020204" charset="-122"/>
                        <a:cs typeface="IBM Plex Mono Bold" panose="020B0809050203000203" charset="0"/>
                      </a:endParaRPr>
                    </a:p>
                  </a:txBody>
                  <a:tcPr marL="152400" marR="152400" marT="127000" marB="101600">
                    <a:solidFill>
                      <a:srgbClr val="E3E7EF"/>
                    </a:solidFill>
                  </a:tcPr>
                </a:tc>
                <a:tc>
                  <a:txBody>
                    <a:bodyPr wrap="square"/>
                    <a:p>
                      <a:pPr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2300" b="1">
                          <a:solidFill>
                            <a:srgbClr val="292929"/>
                          </a:solidFill>
                          <a:latin typeface="IBM Plex Mono Bold" panose="020B0809050203000203" charset="0"/>
                          <a:ea typeface="Microsoft YaHei UI" panose="020B0503020204020204" charset="-122"/>
                          <a:cs typeface="IBM Plex Mono Bold" panose="020B0809050203000203" charset="0"/>
                        </a:rPr>
                        <a:t>Manual</a:t>
                      </a:r>
                      <a:endParaRPr lang="en-US" altLang="en-US" sz="2300" b="1">
                        <a:solidFill>
                          <a:srgbClr val="292929"/>
                        </a:solidFill>
                        <a:latin typeface="IBM Plex Mono Bold" panose="020B0809050203000203" charset="0"/>
                        <a:ea typeface="Microsoft YaHei UI" panose="020B0503020204020204" charset="-122"/>
                        <a:cs typeface="IBM Plex Mono Bold" panose="020B0809050203000203" charset="0"/>
                      </a:endParaRPr>
                    </a:p>
                  </a:txBody>
                  <a:tcPr marL="152400" marR="152400" marT="127000" marB="101600">
                    <a:solidFill>
                      <a:srgbClr val="E3E7EF"/>
                    </a:solidFill>
                  </a:tcPr>
                </a:tc>
                <a:tc>
                  <a:txBody>
                    <a:bodyPr wrap="square"/>
                    <a:p>
                      <a:pPr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2300" b="1">
                          <a:solidFill>
                            <a:srgbClr val="292929"/>
                          </a:solidFill>
                          <a:latin typeface="IBM Plex Mono Bold" panose="020B0809050203000203" charset="0"/>
                          <a:ea typeface="Microsoft YaHei UI" panose="020B0503020204020204" charset="-122"/>
                          <a:cs typeface="IBM Plex Mono Bold" panose="020B0809050203000203" charset="0"/>
                        </a:rPr>
                        <a:t>Automated</a:t>
                      </a:r>
                      <a:endParaRPr lang="en-US" altLang="en-US" sz="2300" b="1">
                        <a:solidFill>
                          <a:srgbClr val="292929"/>
                        </a:solidFill>
                        <a:latin typeface="IBM Plex Mono Bold" panose="020B0809050203000203" charset="0"/>
                        <a:ea typeface="Microsoft YaHei UI" panose="020B0503020204020204" charset="-122"/>
                        <a:cs typeface="IBM Plex Mono Bold" panose="020B0809050203000203" charset="0"/>
                      </a:endParaRPr>
                    </a:p>
                  </a:txBody>
                  <a:tcPr marL="152400" marR="152400" marT="127000" marB="101600">
                    <a:solidFill>
                      <a:srgbClr val="E3E7EF"/>
                    </a:solidFill>
                  </a:tcPr>
                </a:tc>
              </a:tr>
              <a:tr h="825500">
                <a:tc>
                  <a:txBody>
                    <a:bodyPr wrap="square"/>
                    <a:p>
                      <a:pPr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2300" b="0">
                          <a:solidFill>
                            <a:srgbClr val="292929"/>
                          </a:solidFill>
                          <a:latin typeface="IBM Plex Mono" panose="020B0509050203000203" charset="0"/>
                          <a:ea typeface="Microsoft YaHei UI" panose="020B0503020204020204" charset="-122"/>
                          <a:cs typeface="IBM Plex Mono" panose="020B0509050203000203" charset="0"/>
                        </a:rPr>
                        <a:t>Regression</a:t>
                      </a:r>
                      <a:endParaRPr lang="en-US" altLang="en-US" sz="2300" b="0">
                        <a:solidFill>
                          <a:srgbClr val="292929"/>
                        </a:solidFill>
                        <a:latin typeface="IBM Plex Mono" panose="020B0509050203000203" charset="0"/>
                        <a:ea typeface="Microsoft YaHei UI" panose="020B0503020204020204" charset="-122"/>
                        <a:cs typeface="IBM Plex Mono" panose="020B0509050203000203" charset="0"/>
                      </a:endParaRPr>
                    </a:p>
                  </a:txBody>
                  <a:tcPr marL="152400" marR="152400" marT="127000" marB="1016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p>
                      <a:pPr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300" b="0">
                          <a:solidFill>
                            <a:srgbClr val="292929"/>
                          </a:solidFill>
                          <a:latin typeface="IBM Plex Mono" panose="020B0509050203000203" charset="0"/>
                          <a:ea typeface="Microsoft YaHei UI" panose="020B0503020204020204" charset="-122"/>
                        </a:rPr>
                        <a:t>人工重测</a:t>
                      </a:r>
                      <a:endParaRPr lang="zh-CN" altLang="en-US" sz="2300" b="0">
                        <a:solidFill>
                          <a:srgbClr val="292929"/>
                        </a:solidFill>
                        <a:latin typeface="IBM Plex Mono" panose="020B0509050203000203" charset="0"/>
                        <a:ea typeface="Microsoft YaHei UI" panose="020B0503020204020204" charset="-122"/>
                      </a:endParaRPr>
                    </a:p>
                  </a:txBody>
                  <a:tcPr marL="152400" marR="152400" marT="127000" marB="1016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p>
                      <a:pPr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300" b="0">
                          <a:solidFill>
                            <a:srgbClr val="292929"/>
                          </a:solidFill>
                          <a:latin typeface="IBM Plex Mono" panose="020B0509050203000203" charset="0"/>
                          <a:ea typeface="Microsoft YaHei UI" panose="020B0503020204020204" charset="-122"/>
                        </a:rPr>
                        <a:t>自动重跑</a:t>
                      </a:r>
                      <a:endParaRPr lang="zh-CN" altLang="en-US" sz="2300" b="0">
                        <a:solidFill>
                          <a:srgbClr val="292929"/>
                        </a:solidFill>
                        <a:latin typeface="IBM Plex Mono" panose="020B0509050203000203" charset="0"/>
                        <a:ea typeface="Microsoft YaHei UI" panose="020B0503020204020204" charset="-122"/>
                      </a:endParaRPr>
                    </a:p>
                  </a:txBody>
                  <a:tcPr marL="152400" marR="152400" marT="127000" marB="101600">
                    <a:solidFill>
                      <a:srgbClr val="F5F5F5"/>
                    </a:solidFill>
                  </a:tcPr>
                </a:tc>
              </a:tr>
              <a:tr h="825500">
                <a:tc>
                  <a:txBody>
                    <a:bodyPr wrap="square"/>
                    <a:p>
                      <a:pPr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2300" b="0">
                          <a:solidFill>
                            <a:srgbClr val="292929"/>
                          </a:solidFill>
                          <a:latin typeface="IBM Plex Mono" panose="020B0509050203000203" charset="0"/>
                          <a:ea typeface="Microsoft YaHei UI" panose="020B0503020204020204" charset="-122"/>
                          <a:cs typeface="IBM Plex Mono" panose="020B0509050203000203" charset="0"/>
                        </a:rPr>
                        <a:t>New checks</a:t>
                      </a:r>
                      <a:endParaRPr lang="en-US" altLang="en-US" sz="2300" b="0">
                        <a:solidFill>
                          <a:srgbClr val="292929"/>
                        </a:solidFill>
                        <a:latin typeface="IBM Plex Mono" panose="020B0509050203000203" charset="0"/>
                        <a:ea typeface="Microsoft YaHei UI" panose="020B0503020204020204" charset="-122"/>
                        <a:cs typeface="IBM Plex Mono" panose="020B0509050203000203" charset="0"/>
                      </a:endParaRPr>
                    </a:p>
                  </a:txBody>
                  <a:tcPr marL="152400" marR="152400" marT="127000" marB="1016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p>
                      <a:pPr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300" b="0">
                          <a:solidFill>
                            <a:srgbClr val="292929"/>
                          </a:solidFill>
                          <a:latin typeface="IBM Plex Mono" panose="020B0509050203000203" charset="0"/>
                          <a:ea typeface="Microsoft YaHei UI" panose="020B0503020204020204" charset="-122"/>
                        </a:rPr>
                        <a:t>人工验证</a:t>
                      </a:r>
                      <a:endParaRPr lang="zh-CN" altLang="en-US" sz="2300" b="0">
                        <a:solidFill>
                          <a:srgbClr val="292929"/>
                        </a:solidFill>
                        <a:latin typeface="IBM Plex Mono" panose="020B0509050203000203" charset="0"/>
                        <a:ea typeface="Microsoft YaHei UI" panose="020B0503020204020204" charset="-122"/>
                      </a:endParaRPr>
                    </a:p>
                  </a:txBody>
                  <a:tcPr marL="152400" marR="152400" marT="127000" marB="1016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p>
                      <a:pPr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300" b="0">
                          <a:solidFill>
                            <a:srgbClr val="292929"/>
                          </a:solidFill>
                          <a:latin typeface="IBM Plex Mono" panose="020B0509050203000203" charset="0"/>
                          <a:ea typeface="Microsoft YaHei UI" panose="020B0503020204020204" charset="-122"/>
                        </a:rPr>
                        <a:t>自动验证</a:t>
                      </a:r>
                      <a:endParaRPr lang="zh-CN" altLang="en-US" sz="2300" b="0">
                        <a:solidFill>
                          <a:srgbClr val="292929"/>
                        </a:solidFill>
                        <a:latin typeface="IBM Plex Mono" panose="020B0509050203000203" charset="0"/>
                        <a:ea typeface="Microsoft YaHei UI" panose="020B0503020204020204" charset="-122"/>
                      </a:endParaRPr>
                    </a:p>
                  </a:txBody>
                  <a:tcPr marL="152400" marR="152400" marT="127000" marB="1016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9512300" y="7747000"/>
            <a:ext cx="7302500" cy="152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Regression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是目的，</a:t>
            </a: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Automation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是方式。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</a:endParaRPr>
          </a:p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例：修改校验逻辑后重测成功</a:t>
            </a: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 /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拒绝。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</a:endParaRPr>
          </a:p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根据变更影响，选择相关或完整回归集合。</a:t>
            </a:r>
            <a:endParaRPr lang="zh-CN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</a:endParaRPr>
          </a:p>
        </p:txBody>
      </p:sp>
      <p:pic>
        <p:nvPicPr>
          <p:cNvPr id="18" name="png:regression" descr="Testing diagram: regress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0" y="355600"/>
            <a:ext cx="812800" cy="812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263210" y="-4434010"/>
            <a:ext cx="14293413" cy="14293413"/>
          </a:xfrm>
          <a:custGeom>
            <a:avLst/>
            <a:gdLst/>
            <a:ahLst/>
            <a:cxnLst/>
            <a:rect l="l" t="t" r="r" b="b"/>
            <a:pathLst>
              <a:path w="14293413" h="14293413">
                <a:moveTo>
                  <a:pt x="0" y="0"/>
                </a:moveTo>
                <a:lnTo>
                  <a:pt x="14293412" y="0"/>
                </a:lnTo>
                <a:lnTo>
                  <a:pt x="14293412" y="14293413"/>
                </a:lnTo>
                <a:lnTo>
                  <a:pt x="0" y="142934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038225"/>
            <a:ext cx="16230600" cy="8255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90" b="1">
                <a:solidFill>
                  <a:srgbClr val="292929"/>
                </a:solidFill>
                <a:latin typeface="IBM Plex Mono Bold" panose="020B0809050203000203" charset="0"/>
                <a:ea typeface="Microsoft YaHei UI" panose="020B0503020204020204" charset="-122"/>
                <a:cs typeface="IBM Plex Mono Bold" panose="020B0809050203000203" charset="0"/>
                <a:sym typeface="IBM Plex Mono Bold" panose="020B0809050203000203"/>
              </a:rPr>
              <a:t>Test Design &amp; Regression Scope</a:t>
            </a:r>
            <a:endParaRPr lang="en-US" sz="4490" b="1">
              <a:solidFill>
                <a:srgbClr val="292929"/>
              </a:solidFill>
              <a:latin typeface="IBM Plex Mono Bold" panose="020B0809050203000203" charset="0"/>
              <a:ea typeface="Microsoft YaHei UI" panose="020B0503020204020204" charset="-122"/>
              <a:cs typeface="IBM Plex Mono Bold" panose="020B0809050203000203" charset="0"/>
              <a:sym typeface="IBM Plex Mono Bold" panose="020B080905020300020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4413178"/>
            <a:ext cx="7302500" cy="17780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边界是合法</a:t>
            </a: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 /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非法结果发生切换的位置。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假设数量</a:t>
            </a: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 1–100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：测</a:t>
            </a: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 0/1/2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、</a:t>
            </a: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99/100/101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检查边界被接受，越界被拒绝，例如：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assertFalse(isValid(101));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663700" y="3732141"/>
            <a:ext cx="6667500" cy="5334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30" b="1">
                <a:solidFill>
                  <a:srgbClr val="292929"/>
                </a:solidFill>
                <a:latin typeface="IBM Plex Mono Bold" panose="020B0809050203000203" charset="0"/>
                <a:ea typeface="Microsoft YaHei UI" panose="020B0503020204020204" charset="-122"/>
                <a:cs typeface="IBM Plex Mono Bold" panose="020B0809050203000203" charset="0"/>
                <a:sym typeface="IBM Plex Mono Medium" panose="020B0609050203000203"/>
              </a:rPr>
              <a:t>Boundary / </a:t>
            </a:r>
            <a:r>
              <a:rPr lang="zh-CN" altLang="en-US" sz="3230" b="1">
                <a:solidFill>
                  <a:srgbClr val="292929"/>
                </a:solidFill>
                <a:latin typeface="IBM Plex Mono Bold" panose="020B0809050203000203" charset="0"/>
                <a:ea typeface="Microsoft YaHei UI" panose="020B0503020204020204" charset="-122"/>
                <a:cs typeface="IBM Plex Mono Bold" panose="020B0809050203000203" charset="0"/>
                <a:sym typeface="IBM Plex Mono Medium" panose="020B0609050203000203"/>
              </a:rPr>
              <a:t>边界</a:t>
            </a:r>
            <a:endParaRPr lang="zh-CN" altLang="en-US" sz="3230" b="1">
              <a:solidFill>
                <a:srgbClr val="292929"/>
              </a:solidFill>
              <a:latin typeface="IBM Plex Mono Bold" panose="020B0809050203000203" charset="0"/>
              <a:ea typeface="Microsoft YaHei UI" panose="020B0503020204020204" charset="-122"/>
              <a:cs typeface="IBM Plex Mono Bold" panose="020B0809050203000203" charset="0"/>
              <a:sym typeface="IBM Plex Mono Medium" panose="020B0609050203000203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963150" y="4413178"/>
            <a:ext cx="7302500" cy="17780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Decision Table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将条件组合映射到预期。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例：登录且有权限时允许，否则应拒绝。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每个组合写清结果，避免只测试成功路径。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Equivalence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将同类输入分组，选代表值。</a:t>
            </a:r>
            <a:endParaRPr lang="zh-CN" altLang="en-US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598150" y="3732141"/>
            <a:ext cx="6667500" cy="5334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30" b="1">
                <a:solidFill>
                  <a:srgbClr val="292929"/>
                </a:solidFill>
                <a:latin typeface="IBM Plex Mono Bold" panose="020B0809050203000203" charset="0"/>
                <a:ea typeface="Microsoft YaHei UI" panose="020B0503020204020204" charset="-122"/>
                <a:cs typeface="IBM Plex Mono Bold" panose="020B0809050203000203" charset="0"/>
                <a:sym typeface="IBM Plex Mono Medium" panose="020B0609050203000203"/>
              </a:rPr>
              <a:t>Conditions / </a:t>
            </a:r>
            <a:r>
              <a:rPr lang="zh-CN" altLang="en-US" sz="3230" b="1">
                <a:solidFill>
                  <a:srgbClr val="292929"/>
                </a:solidFill>
                <a:latin typeface="IBM Plex Mono Bold" panose="020B0809050203000203" charset="0"/>
                <a:ea typeface="Microsoft YaHei UI" panose="020B0503020204020204" charset="-122"/>
                <a:cs typeface="IBM Plex Mono Bold" panose="020B0809050203000203" charset="0"/>
                <a:sym typeface="IBM Plex Mono Medium" panose="020B0609050203000203"/>
              </a:rPr>
              <a:t>条件组合</a:t>
            </a:r>
            <a:endParaRPr lang="zh-CN" altLang="en-US" sz="3230" b="1">
              <a:solidFill>
                <a:srgbClr val="292929"/>
              </a:solidFill>
              <a:latin typeface="IBM Plex Mono Bold" panose="020B0809050203000203" charset="0"/>
              <a:ea typeface="Microsoft YaHei UI" panose="020B0503020204020204" charset="-122"/>
              <a:cs typeface="IBM Plex Mono Bold" panose="020B0809050203000203" charset="0"/>
              <a:sym typeface="IBM Plex Mono Medium" panose="020B0609050203000203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7645261"/>
            <a:ext cx="7302500" cy="20701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同一操作是否允许，可能取决于当前状态。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例：假设</a:t>
            </a: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 Draft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可编辑，提交后禁止编辑。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既断言合法操作后的目标状态，也检查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非法操作被拒绝、原状态没有被改动。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具体转换与限制必须依据实际需求。</a:t>
            </a:r>
            <a:endParaRPr lang="zh-CN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663700" y="6964223"/>
            <a:ext cx="6667500" cy="5334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30" b="1">
                <a:solidFill>
                  <a:srgbClr val="292929"/>
                </a:solidFill>
                <a:latin typeface="IBM Plex Mono Bold" panose="020B0809050203000203" charset="0"/>
                <a:ea typeface="Microsoft YaHei UI" panose="020B0503020204020204" charset="-122"/>
                <a:cs typeface="IBM Plex Mono Bold" panose="020B0809050203000203" charset="0"/>
                <a:sym typeface="IBM Plex Mono Medium" panose="020B0609050203000203"/>
              </a:rPr>
              <a:t>State / </a:t>
            </a:r>
            <a:r>
              <a:rPr lang="zh-CN" altLang="en-US" sz="3230" b="1">
                <a:solidFill>
                  <a:srgbClr val="292929"/>
                </a:solidFill>
                <a:latin typeface="IBM Plex Mono Bold" panose="020B0809050203000203" charset="0"/>
                <a:ea typeface="Microsoft YaHei UI" panose="020B0503020204020204" charset="-122"/>
                <a:cs typeface="IBM Plex Mono Bold" panose="020B0809050203000203" charset="0"/>
                <a:sym typeface="IBM Plex Mono Medium" panose="020B0609050203000203"/>
              </a:rPr>
              <a:t>状态迁移</a:t>
            </a:r>
            <a:endParaRPr lang="zh-CN" altLang="en-US" sz="3230" b="1">
              <a:solidFill>
                <a:srgbClr val="292929"/>
              </a:solidFill>
              <a:latin typeface="IBM Plex Mono Bold" panose="020B0809050203000203" charset="0"/>
              <a:ea typeface="Microsoft YaHei UI" panose="020B0503020204020204" charset="-122"/>
              <a:cs typeface="IBM Plex Mono Bold" panose="020B0809050203000203" charset="0"/>
              <a:sym typeface="IBM Plex Mono Medium" panose="020B06090502030002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963150" y="7645261"/>
            <a:ext cx="7302500" cy="20701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先找改动模块，以及使用它的共享流程。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Unit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快速检查规则；</a:t>
            </a: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API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检查接口与权限。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少量</a:t>
            </a: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 UI / E2E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验证完整用户路径。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修复校验时，同时重测合法与非法输入。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风险与影响决定相关集合或完整回归。</a:t>
            </a:r>
            <a:endParaRPr lang="zh-CN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598150" y="6964223"/>
            <a:ext cx="6667500" cy="5334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30" b="1">
                <a:solidFill>
                  <a:srgbClr val="292929"/>
                </a:solidFill>
                <a:latin typeface="IBM Plex Mono Bold" panose="020B0809050203000203" charset="0"/>
                <a:ea typeface="Microsoft YaHei UI" panose="020B0503020204020204" charset="-122"/>
                <a:cs typeface="IBM Plex Mono Bold" panose="020B0809050203000203" charset="0"/>
                <a:sym typeface="IBM Plex Mono Medium" panose="020B0609050203000203"/>
              </a:rPr>
              <a:t>Impact / </a:t>
            </a:r>
            <a:r>
              <a:rPr lang="zh-CN" altLang="en-US" sz="3230" b="1">
                <a:solidFill>
                  <a:srgbClr val="292929"/>
                </a:solidFill>
                <a:latin typeface="IBM Plex Mono Bold" panose="020B0809050203000203" charset="0"/>
                <a:ea typeface="Microsoft YaHei UI" panose="020B0503020204020204" charset="-122"/>
                <a:cs typeface="IBM Plex Mono Bold" panose="020B0809050203000203" charset="0"/>
                <a:sym typeface="IBM Plex Mono Medium" panose="020B0609050203000203"/>
              </a:rPr>
              <a:t>回归范围</a:t>
            </a:r>
            <a:endParaRPr lang="zh-CN" altLang="en-US" sz="3230" b="1">
              <a:solidFill>
                <a:srgbClr val="292929"/>
              </a:solidFill>
              <a:latin typeface="IBM Plex Mono Bold" panose="020B0809050203000203" charset="0"/>
              <a:ea typeface="Microsoft YaHei UI" panose="020B0503020204020204" charset="-122"/>
              <a:cs typeface="IBM Plex Mono Bold" panose="020B0809050203000203" charset="0"/>
              <a:sym typeface="IBM Plex Mono Medium" panose="020B0609050203000203"/>
            </a:endParaRPr>
          </a:p>
        </p:txBody>
      </p:sp>
      <p:sp>
        <p:nvSpPr>
          <p:cNvPr id="13" name="AutoShape 13"/>
          <p:cNvSpPr/>
          <p:nvPr/>
        </p:nvSpPr>
        <p:spPr>
          <a:xfrm flipH="1">
            <a:off x="1028700" y="6366498"/>
            <a:ext cx="16230600" cy="0"/>
          </a:xfrm>
          <a:prstGeom prst="line">
            <a:avLst/>
          </a:prstGeom>
          <a:ln w="19050" cap="flat">
            <a:solidFill>
              <a:srgbClr val="2E2B2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9144000" y="3556000"/>
            <a:ext cx="0" cy="6083300"/>
          </a:xfrm>
          <a:prstGeom prst="line">
            <a:avLst/>
          </a:prstGeom>
          <a:ln w="19050" cap="flat">
            <a:solidFill>
              <a:srgbClr val="2E2B2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文本框 14"/>
          <p:cNvSpPr txBox="1"/>
          <p:nvPr/>
        </p:nvSpPr>
        <p:spPr>
          <a:xfrm>
            <a:off x="1028700" y="2108200"/>
            <a:ext cx="16230600" cy="952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6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</a:rPr>
              <a:t>设计用例先看规则与风险，再决定数据和执行层级。</a:t>
            </a:r>
            <a:endParaRPr lang="en-US" altLang="zh-CN" sz="26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</a:endParaRPr>
          </a:p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6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</a:rPr>
              <a:t>每条场景独立运行，结果要有明确的判断依据。</a:t>
            </a:r>
            <a:endParaRPr lang="zh-CN" altLang="zh-CN" sz="26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</a:endParaRPr>
          </a:p>
        </p:txBody>
      </p:sp>
      <p:pic>
        <p:nvPicPr>
          <p:cNvPr id="16" name="png:boundary" descr="Testing diagram: bounda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3744595"/>
            <a:ext cx="431800" cy="431800"/>
          </a:xfrm>
          <a:prstGeom prst="rect">
            <a:avLst/>
          </a:prstGeom>
        </p:spPr>
      </p:pic>
      <p:pic>
        <p:nvPicPr>
          <p:cNvPr id="17" name="png:conditions" descr="Testing diagram: condition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3150" y="3744595"/>
            <a:ext cx="431800" cy="431800"/>
          </a:xfrm>
          <a:prstGeom prst="rect">
            <a:avLst/>
          </a:prstGeom>
        </p:spPr>
      </p:pic>
      <p:pic>
        <p:nvPicPr>
          <p:cNvPr id="18" name="png:state" descr="Testing diagram: stat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6976745"/>
            <a:ext cx="431800" cy="431800"/>
          </a:xfrm>
          <a:prstGeom prst="rect">
            <a:avLst/>
          </a:prstGeom>
        </p:spPr>
      </p:pic>
      <p:pic>
        <p:nvPicPr>
          <p:cNvPr id="19" name="png:impact" descr="Testing diagram: impac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3150" y="6976745"/>
            <a:ext cx="43180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561696" y="-8094555"/>
            <a:ext cx="14293413" cy="14293413"/>
          </a:xfrm>
          <a:custGeom>
            <a:avLst/>
            <a:gdLst/>
            <a:ahLst/>
            <a:cxnLst/>
            <a:rect l="l" t="t" r="r" b="b"/>
            <a:pathLst>
              <a:path w="14293413" h="14293413">
                <a:moveTo>
                  <a:pt x="0" y="0"/>
                </a:moveTo>
                <a:lnTo>
                  <a:pt x="14293412" y="0"/>
                </a:lnTo>
                <a:lnTo>
                  <a:pt x="14293412" y="14293413"/>
                </a:lnTo>
                <a:lnTo>
                  <a:pt x="0" y="142934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276225"/>
            <a:ext cx="16230600" cy="8255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90" b="1">
                <a:solidFill>
                  <a:srgbClr val="292929"/>
                </a:solidFill>
                <a:latin typeface="IBM Plex Mono Bold" panose="020B0809050203000203" charset="0"/>
                <a:ea typeface="Microsoft YaHei UI" panose="020B0503020204020204" charset="-122"/>
                <a:cs typeface="IBM Plex Mono Bold" panose="020B0809050203000203" charset="0"/>
                <a:sym typeface="IBM Plex Mono Bold" panose="020B0809050203000203"/>
              </a:rPr>
              <a:t>Serenity BDD Architecture</a:t>
            </a:r>
            <a:endParaRPr lang="en-US" sz="4490" b="1">
              <a:solidFill>
                <a:srgbClr val="292929"/>
              </a:solidFill>
              <a:latin typeface="IBM Plex Mono Bold" panose="020B0809050203000203" charset="0"/>
              <a:ea typeface="Microsoft YaHei UI" panose="020B0503020204020204" charset="-122"/>
              <a:cs typeface="IBM Plex Mono Bold" panose="020B0809050203000203" charset="0"/>
              <a:sym typeface="IBM Plex Mono Bold" panose="020B0809050203000203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6502400"/>
            <a:ext cx="4064000" cy="5334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30" b="1">
                <a:solidFill>
                  <a:srgbClr val="292929"/>
                </a:solidFill>
                <a:latin typeface="IBM Plex Mono Bold" panose="020B0809050203000203" charset="0"/>
                <a:ea typeface="Microsoft YaHei UI" panose="020B0503020204020204" charset="-122"/>
                <a:cs typeface="IBM Plex Mono Bold" panose="020B0809050203000203" charset="0"/>
                <a:sym typeface="IBM Plex Mono Medium" panose="020B0609050203000203"/>
              </a:rPr>
              <a:t>Feature</a:t>
            </a:r>
            <a:endParaRPr lang="en-US" sz="3230" b="1">
              <a:solidFill>
                <a:srgbClr val="292929"/>
              </a:solidFill>
              <a:latin typeface="IBM Plex Mono Bold" panose="020B0809050203000203" charset="0"/>
              <a:ea typeface="Microsoft YaHei UI" panose="020B0503020204020204" charset="-122"/>
              <a:cs typeface="IBM Plex Mono Bold" panose="020B0809050203000203" charset="0"/>
              <a:sym typeface="IBM Plex Mono Medium" panose="020B0609050203000203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292872" y="6502400"/>
            <a:ext cx="4254500" cy="5334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30" b="1">
                <a:solidFill>
                  <a:srgbClr val="292929"/>
                </a:solidFill>
                <a:latin typeface="IBM Plex Mono Bold" panose="020B0809050203000203" charset="0"/>
                <a:ea typeface="Microsoft YaHei UI" panose="020B0503020204020204" charset="-122"/>
                <a:cs typeface="IBM Plex Mono Bold" panose="020B0809050203000203" charset="0"/>
                <a:sym typeface="IBM Plex Mono Medium" panose="020B0609050203000203"/>
              </a:rPr>
              <a:t>Java / SUT</a:t>
            </a:r>
            <a:endParaRPr lang="en-US" sz="3230" b="1">
              <a:solidFill>
                <a:srgbClr val="292929"/>
              </a:solidFill>
              <a:latin typeface="IBM Plex Mono Bold" panose="020B0809050203000203" charset="0"/>
              <a:ea typeface="Microsoft YaHei UI" panose="020B0503020204020204" charset="-122"/>
              <a:cs typeface="IBM Plex Mono Bold" panose="020B0809050203000203" charset="0"/>
              <a:sym typeface="IBM Plex Mono Medium" panose="020B0609050203000203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557043" y="6502400"/>
            <a:ext cx="4064000" cy="5334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30" b="1">
                <a:solidFill>
                  <a:srgbClr val="292929"/>
                </a:solidFill>
                <a:latin typeface="IBM Plex Mono Bold" panose="020B0809050203000203" charset="0"/>
                <a:ea typeface="Microsoft YaHei UI" panose="020B0503020204020204" charset="-122"/>
                <a:cs typeface="IBM Plex Mono Bold" panose="020B0809050203000203" charset="0"/>
                <a:sym typeface="IBM Plex Mono Medium" panose="020B0609050203000203"/>
              </a:rPr>
              <a:t>Report</a:t>
            </a:r>
            <a:endParaRPr lang="en-US" sz="3230" b="1">
              <a:solidFill>
                <a:srgbClr val="292929"/>
              </a:solidFill>
              <a:latin typeface="IBM Plex Mono Bold" panose="020B0809050203000203" charset="0"/>
              <a:ea typeface="Microsoft YaHei UI" panose="020B0503020204020204" charset="-122"/>
              <a:cs typeface="IBM Plex Mono Bold" panose="020B0809050203000203" charset="0"/>
              <a:sym typeface="IBM Plex Mono Medium" panose="020B06090502030002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1384695"/>
            <a:ext cx="16230600" cy="10795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BDD</a:t>
            </a:r>
            <a:r>
              <a:rPr lang="zh-CN" altLang="en-US" sz="26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：讨论例子，写成行为场景，再接到测试代码。</a:t>
            </a:r>
            <a:endParaRPr lang="en-US" altLang="zh-CN" sz="26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Discovery / Formulation / Automation</a:t>
            </a:r>
            <a:endParaRPr lang="en-US" altLang="zh-CN" sz="26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028700" y="2794000"/>
            <a:ext cx="8572500" cy="2413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Scenario: Reject an empty name</a:t>
            </a:r>
            <a:endParaRPr lang="en-US" altLang="en-US" sz="23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</a:endParaRPr>
          </a:p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  Given all other form fields are valid</a:t>
            </a:r>
            <a:endParaRPr lang="en-US" altLang="en-US" sz="23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</a:endParaRPr>
          </a:p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  And the name field is empty</a:t>
            </a:r>
            <a:endParaRPr lang="en-US" altLang="en-US" sz="23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</a:endParaRPr>
          </a:p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  When I submit the form</a:t>
            </a:r>
            <a:endParaRPr lang="en-US" altLang="en-US" sz="23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</a:endParaRPr>
          </a:p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  Then a required-field error is shown</a:t>
            </a:r>
            <a:endParaRPr lang="en-US" altLang="en-US" sz="23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</a:endParaRPr>
          </a:p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  And the submission is not saved</a:t>
            </a:r>
            <a:endParaRPr lang="en-US" altLang="en-US" sz="23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963150" y="2857500"/>
            <a:ext cx="7302500" cy="2336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Cucumber </a:t>
            </a:r>
            <a:r>
              <a:rPr lang="zh-CN" altLang="en-US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将场景句子匹配到</a:t>
            </a:r>
            <a:r>
              <a:rPr lang="en-US" altLang="zh-CN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 Java </a:t>
            </a:r>
            <a:r>
              <a:rPr lang="zh-CN" altLang="en-US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方法。</a:t>
            </a:r>
            <a:endParaRPr lang="en-US" altLang="zh-CN" sz="23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</a:endParaRPr>
          </a:p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Steps </a:t>
            </a:r>
            <a:r>
              <a:rPr lang="zh-CN" altLang="en-US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调用操作层、页面对象或</a:t>
            </a:r>
            <a:r>
              <a:rPr lang="en-US" altLang="zh-CN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 API </a:t>
            </a:r>
            <a:r>
              <a:rPr lang="zh-CN" altLang="en-US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客户端。</a:t>
            </a:r>
            <a:endParaRPr lang="en-US" altLang="zh-CN" sz="23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</a:endParaRPr>
          </a:p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Page Object </a:t>
            </a:r>
            <a:r>
              <a:rPr lang="zh-CN" altLang="en-US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集中维护定位、等待与读取，</a:t>
            </a:r>
            <a:endParaRPr lang="en-US" altLang="zh-CN" sz="23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</a:endParaRPr>
          </a:p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页面改动时可复用原有业务场景。</a:t>
            </a:r>
            <a:endParaRPr lang="en-US" altLang="zh-CN" sz="23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</a:endParaRPr>
          </a:p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Assertions </a:t>
            </a:r>
            <a:r>
              <a:rPr lang="zh-CN" altLang="en-US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根据需求比较实际与预期；</a:t>
            </a:r>
            <a:endParaRPr lang="en-US" altLang="zh-CN" sz="23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</a:endParaRPr>
          </a:p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Serenity </a:t>
            </a:r>
            <a:r>
              <a:rPr lang="zh-CN" altLang="en-US" sz="23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记录过程，预期仍由我们定义。</a:t>
            </a:r>
            <a:endParaRPr lang="zh-CN" altLang="en-US" sz="23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028700" y="5664200"/>
            <a:ext cx="1623060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 b="1">
                <a:solidFill>
                  <a:srgbClr val="FF0000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Maven + JUnit Platform </a:t>
            </a:r>
            <a:r>
              <a:rPr lang="zh-CN" altLang="en-US" sz="2400" b="1">
                <a:solidFill>
                  <a:srgbClr val="FF0000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启动测试；</a:t>
            </a:r>
            <a:r>
              <a:rPr lang="en-US" altLang="zh-CN" sz="2400" b="1">
                <a:solidFill>
                  <a:srgbClr val="FF0000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CI </a:t>
            </a:r>
            <a:r>
              <a:rPr lang="zh-CN" altLang="en-US" sz="2400" b="1">
                <a:solidFill>
                  <a:srgbClr val="FF0000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用</a:t>
            </a:r>
            <a:r>
              <a:rPr lang="en-US" altLang="zh-CN" sz="2400" b="1">
                <a:solidFill>
                  <a:srgbClr val="FF0000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 tags </a:t>
            </a:r>
            <a:r>
              <a:rPr lang="zh-CN" altLang="en-US" sz="2400" b="1">
                <a:solidFill>
                  <a:srgbClr val="FF0000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选择</a:t>
            </a:r>
            <a:r>
              <a:rPr lang="en-US" altLang="zh-CN" sz="2400" b="1">
                <a:solidFill>
                  <a:srgbClr val="FF0000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 smoke / regression</a:t>
            </a:r>
            <a:r>
              <a:rPr lang="zh-CN" altLang="en-US" sz="2400" b="1">
                <a:solidFill>
                  <a:srgbClr val="FF0000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。</a:t>
            </a:r>
            <a:endParaRPr lang="zh-CN" altLang="en-US" sz="2400" b="1">
              <a:solidFill>
                <a:srgbClr val="FF0000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</a:endParaRPr>
          </a:p>
        </p:txBody>
      </p:sp>
      <p:pic>
        <p:nvPicPr>
          <p:cNvPr id="25" name="png:flow" descr="Testing diagram: flow"/>
          <p:cNvPicPr>
            <a:picLocks noChangeAspect="1"/>
          </p:cNvPicPr>
          <p:nvPr/>
        </p:nvPicPr>
        <p:blipFill>
          <a:blip r:embed="rId3"/>
          <a:srcRect t="10000" b="43333"/>
          <a:stretch>
            <a:fillRect/>
          </a:stretch>
        </p:blipFill>
        <p:spPr>
          <a:xfrm>
            <a:off x="1066800" y="6032500"/>
            <a:ext cx="16230600" cy="533400"/>
          </a:xfrm>
          <a:prstGeom prst="rect">
            <a:avLst/>
          </a:prstGeom>
        </p:spPr>
      </p:pic>
      <p:pic>
        <p:nvPicPr>
          <p:cNvPr id="26" name="report:steps" descr="Official Serenity calculator report: Steps, Screenshots, Outcome and execution duration. Cropped to the two step rows."/>
          <p:cNvPicPr>
            <a:picLocks noChangeAspect="1"/>
          </p:cNvPicPr>
          <p:nvPr/>
        </p:nvPicPr>
        <p:blipFill>
          <a:blip r:embed="rId4"/>
          <a:srcRect t="27000" b="52700"/>
          <a:stretch>
            <a:fillRect/>
          </a:stretch>
        </p:blipFill>
        <p:spPr>
          <a:xfrm>
            <a:off x="762000" y="7556500"/>
            <a:ext cx="13996035" cy="191643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685800" y="9563100"/>
            <a:ext cx="16230600" cy="355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</a:rPr>
              <a:t>官方计算器示例（界面随版本变化）：步骤、截图、结果与耗时；截图频率依配置。</a:t>
            </a:r>
            <a:endParaRPr lang="zh-CN" altLang="en-US" sz="20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290547" y="5143500"/>
            <a:ext cx="14293413" cy="14293413"/>
          </a:xfrm>
          <a:custGeom>
            <a:avLst/>
            <a:gdLst/>
            <a:ahLst/>
            <a:cxnLst/>
            <a:rect l="l" t="t" r="r" b="b"/>
            <a:pathLst>
              <a:path w="14293413" h="14293413">
                <a:moveTo>
                  <a:pt x="0" y="0"/>
                </a:moveTo>
                <a:lnTo>
                  <a:pt x="14293413" y="0"/>
                </a:lnTo>
                <a:lnTo>
                  <a:pt x="14293413" y="14293413"/>
                </a:lnTo>
                <a:lnTo>
                  <a:pt x="0" y="142934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2108200"/>
            <a:ext cx="8115300" cy="20320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Case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：检查</a:t>
            </a: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 Unit A sign-off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是否真正保存。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Given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：独立的</a:t>
            </a: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 Pre-NPA proposal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；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Unit A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为</a:t>
            </a: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 Pending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，用户有该</a:t>
            </a: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 unit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审批权限。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When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：提交该记录的</a:t>
            </a: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 Unit A sign-off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用</a:t>
            </a: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 proposalId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" panose="020B0509050203000203"/>
              </a:rPr>
              <a:t>定位记录，避免操作其他数据。</a:t>
            </a:r>
            <a:endParaRPr lang="zh-CN" altLang="en-US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" panose="020B050905020300020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62000" y="4851400"/>
            <a:ext cx="8115300" cy="21082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275590" lvl="1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 Italics" panose="020B0509050203000203"/>
              </a:rPr>
              <a:t>Then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 Italics" panose="020B0509050203000203"/>
              </a:rPr>
              <a:t>：重新打开同一</a:t>
            </a: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 Italics" panose="020B0509050203000203"/>
              </a:rPr>
              <a:t> proposal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 Italics" panose="020B0509050203000203"/>
              </a:rPr>
              <a:t>，读取</a:t>
            </a: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 Italics" panose="020B0509050203000203"/>
              </a:rPr>
              <a:t> Unit A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 Italics" panose="020B0509050203000203"/>
              </a:rPr>
              <a:t>状态。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 Italics" panose="020B0509050203000203"/>
            </a:endParaRPr>
          </a:p>
          <a:p>
            <a:pPr marL="275590" lvl="1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 Italics" panose="020B0509050203000203"/>
              </a:rPr>
              <a:t>Assertion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 Italics" panose="020B0509050203000203"/>
              </a:rPr>
              <a:t>将实际状态与</a:t>
            </a: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 Italics" panose="020B0509050203000203"/>
              </a:rPr>
              <a:t> SIGNED_OFF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 Italics" panose="020B0509050203000203"/>
              </a:rPr>
              <a:t>比较；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 Italics" panose="020B0509050203000203"/>
            </a:endParaRPr>
          </a:p>
          <a:p>
            <a:pPr marL="275590" lvl="1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 Italics" panose="020B0509050203000203"/>
              </a:rPr>
              <a:t>这样确认的是持久化结果，成功提示还不够。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 Italics" panose="020B0509050203000203"/>
            </a:endParaRPr>
          </a:p>
          <a:p>
            <a:pPr marL="275590" lvl="1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 Italics" panose="020B0509050203000203"/>
              </a:rPr>
              <a:t>改</a:t>
            </a: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 Italics" panose="020B0509050203000203"/>
              </a:rPr>
              <a:t> sign-off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 Italics" panose="020B0509050203000203"/>
              </a:rPr>
              <a:t>实现后，重跑此</a:t>
            </a: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 Italics" panose="020B0509050203000203"/>
              </a:rPr>
              <a:t> case 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 Italics" panose="020B0509050203000203"/>
              </a:rPr>
              <a:t>做</a:t>
            </a:r>
            <a:r>
              <a:rPr lang="en-US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 Italics" panose="020B0509050203000203"/>
              </a:rPr>
              <a:t> regression</a:t>
            </a:r>
            <a:r>
              <a:rPr lang="zh-CN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 Italics" panose="020B0509050203000203"/>
              </a:rPr>
              <a:t>，</a:t>
            </a:r>
            <a:endParaRPr lang="en-US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 Italics" panose="020B0509050203000203"/>
            </a:endParaRPr>
          </a:p>
          <a:p>
            <a:pPr marL="275590" lvl="1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  <a:sym typeface="IBM Plex Mono Italics" panose="020B0509050203000203"/>
              </a:rPr>
              <a:t>再按变更影响补充权限和其他相关场景。</a:t>
            </a:r>
            <a:endParaRPr lang="zh-CN" altLang="zh-CN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  <a:sym typeface="IBM Plex Mono Italics" panose="020B0509050203000203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647700"/>
            <a:ext cx="16230600" cy="8255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90" b="1">
                <a:solidFill>
                  <a:srgbClr val="292929"/>
                </a:solidFill>
                <a:latin typeface="IBM Plex Mono Bold" panose="020B0809050203000203" charset="0"/>
                <a:ea typeface="Microsoft YaHei UI" panose="020B0503020204020204" charset="-122"/>
                <a:cs typeface="IBM Plex Mono Bold" panose="020B0809050203000203" charset="0"/>
                <a:sym typeface="IBM Plex Mono Bold" panose="020B0809050203000203"/>
              </a:rPr>
              <a:t>NPA Sign-off Example</a:t>
            </a:r>
            <a:endParaRPr lang="en-US" sz="4490" b="1">
              <a:solidFill>
                <a:srgbClr val="292929"/>
              </a:solidFill>
              <a:latin typeface="IBM Plex Mono Bold" panose="020B0809050203000203" charset="0"/>
              <a:ea typeface="Microsoft YaHei UI" panose="020B0503020204020204" charset="-122"/>
              <a:cs typeface="IBM Plex Mono Bold" panose="020B0809050203000203" charset="0"/>
              <a:sym typeface="IBM Plex Mono Bold" panose="020B0809050203000203"/>
            </a:endParaRPr>
          </a:p>
        </p:txBody>
      </p:sp>
      <p:sp>
        <p:nvSpPr>
          <p:cNvPr id="8" name="AutoShape 8"/>
          <p:cNvSpPr/>
          <p:nvPr/>
        </p:nvSpPr>
        <p:spPr>
          <a:xfrm flipH="1">
            <a:off x="1028700" y="4533744"/>
            <a:ext cx="8115300" cy="0"/>
          </a:xfrm>
          <a:prstGeom prst="line">
            <a:avLst/>
          </a:prstGeom>
          <a:ln w="19050" cap="flat">
            <a:solidFill>
              <a:srgbClr val="2E2B2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文本框 8"/>
          <p:cNvSpPr txBox="1"/>
          <p:nvPr/>
        </p:nvSpPr>
        <p:spPr>
          <a:xfrm>
            <a:off x="10344150" y="2108200"/>
            <a:ext cx="7302500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500" b="1">
                <a:solidFill>
                  <a:srgbClr val="292929"/>
                </a:solidFill>
                <a:latin typeface="IBM Plex Mono Bold" panose="020B0809050203000203" charset="0"/>
                <a:ea typeface="Microsoft YaHei UI" panose="020B0503020204020204" charset="-122"/>
                <a:cs typeface="IBM Plex Mono Bold" panose="020B0809050203000203" charset="0"/>
              </a:rPr>
              <a:t>Java Step Definitions</a:t>
            </a:r>
            <a:endParaRPr lang="en-US" altLang="en-US" sz="2500" b="1">
              <a:solidFill>
                <a:srgbClr val="292929"/>
              </a:solidFill>
              <a:latin typeface="IBM Plex Mono Bold" panose="020B0809050203000203" charset="0"/>
              <a:ea typeface="Microsoft YaHei UI" panose="020B0503020204020204" charset="-122"/>
              <a:cs typeface="IBM Plex Mono Bold" panose="020B0809050203000203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344150" y="2794000"/>
            <a:ext cx="7302500" cy="4445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@When("I sign off for Unit A")</a:t>
            </a:r>
            <a:endParaRPr lang="en-US" altLang="en-US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</a:endParaRPr>
          </a:p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public void signOff() {</a:t>
            </a:r>
            <a:endParaRPr lang="en-US" altLang="en-US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</a:endParaRPr>
          </a:p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  actions.submitFor("Unit A");</a:t>
            </a:r>
            <a:endParaRPr lang="en-US" altLang="en-US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</a:endParaRPr>
          </a:p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}</a:t>
            </a:r>
            <a:endParaRPr lang="en-US" altLang="en-US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</a:endParaRPr>
          </a:p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</a:endParaRPr>
          </a:p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@Then("Unit A is signed off")</a:t>
            </a:r>
            <a:endParaRPr lang="en-US" altLang="en-US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</a:endParaRPr>
          </a:p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public void checkResult() {</a:t>
            </a:r>
            <a:endParaRPr lang="en-US" altLang="en-US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</a:endParaRPr>
          </a:p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  page.reopen(proposalId);</a:t>
            </a:r>
            <a:endParaRPr lang="en-US" altLang="en-US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</a:endParaRPr>
          </a:p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  assertEquals(SIGNED_OFF,</a:t>
            </a:r>
            <a:endParaRPr lang="en-US" altLang="en-US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</a:endParaRPr>
          </a:p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      page.statusFor("Unit A"));</a:t>
            </a:r>
            <a:endParaRPr lang="en-US" altLang="en-US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</a:endParaRPr>
          </a:p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  <a:cs typeface="IBM Plex Mono" panose="020B0509050203000203" charset="0"/>
              </a:rPr>
              <a:t>}</a:t>
            </a:r>
            <a:endParaRPr lang="en-US" altLang="en-US" sz="24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  <a:cs typeface="IBM Plex Mono" panose="020B0509050203000203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28700" y="7810500"/>
            <a:ext cx="16230600" cy="635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00">
                <a:solidFill>
                  <a:srgbClr val="292929"/>
                </a:solidFill>
                <a:latin typeface="IBM Plex Mono" panose="020B0509050203000203" charset="0"/>
                <a:ea typeface="Microsoft YaHei UI" panose="020B0503020204020204" charset="-122"/>
              </a:rPr>
              <a:t>示意片段：方法、权限和状态名称按实际项目实现。</a:t>
            </a:r>
            <a:endParaRPr lang="zh-CN" altLang="en-US" sz="2200">
              <a:solidFill>
                <a:srgbClr val="292929"/>
              </a:solidFill>
              <a:latin typeface="IBM Plex Mono" panose="020B0509050203000203" charset="0"/>
              <a:ea typeface="Microsoft YaHei UI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28700" y="8648700"/>
            <a:ext cx="16230600" cy="635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1">
                <a:solidFill>
                  <a:srgbClr val="292929"/>
                </a:solidFill>
                <a:latin typeface="IBM Plex Mono Bold" panose="020B0809050203000203" charset="0"/>
                <a:ea typeface="Microsoft YaHei UI" panose="020B0503020204020204" charset="-122"/>
                <a:cs typeface="IBM Plex Mono Bold" panose="020B0809050203000203" charset="0"/>
              </a:rPr>
              <a:t>感谢欧阳的指导与帮助</a:t>
            </a:r>
            <a:endParaRPr lang="zh-CN" altLang="en-US" sz="2800" b="1">
              <a:solidFill>
                <a:srgbClr val="292929"/>
              </a:solidFill>
              <a:latin typeface="IBM Plex Mono Bold" panose="020B0809050203000203" charset="0"/>
              <a:ea typeface="Microsoft YaHei UI" panose="020B0503020204020204" charset="-122"/>
              <a:cs typeface="IBM Plex Mono Bold" panose="020B0809050203000203" charset="0"/>
            </a:endParaRPr>
          </a:p>
          <a:p>
            <a:pPr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>
                <a:solidFill>
                  <a:srgbClr val="292929"/>
                </a:solidFill>
                <a:latin typeface="IBM Plex Mono Bold" panose="020B0809050203000203" charset="0"/>
                <a:ea typeface="Microsoft YaHei UI" panose="020B0503020204020204" charset="-122"/>
                <a:cs typeface="IBM Plex Mono Bold" panose="020B0809050203000203" charset="0"/>
              </a:rPr>
              <a:t>Presentation by Susan Huishan Bi</a:t>
            </a:r>
            <a:endParaRPr lang="en-US" altLang="zh-CN" sz="2800" b="1">
              <a:solidFill>
                <a:srgbClr val="292929"/>
              </a:solidFill>
              <a:latin typeface="IBM Plex Mono Bold" panose="020B0809050203000203" charset="0"/>
              <a:ea typeface="Microsoft YaHei UI" panose="020B0503020204020204" charset="-122"/>
              <a:cs typeface="IBM Plex Mono Bold" panose="020B0809050203000203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57,&quot;left&quot;:81,&quot;top&quot;:202,&quot;width&quot;:1278.5}"/>
</p:tagLst>
</file>

<file path=ppt/tags/tag2.xml><?xml version="1.0" encoding="utf-8"?>
<p:tagLst xmlns:p="http://schemas.openxmlformats.org/presentationml/2006/main">
  <p:tag name="KSO_WM_DIAGRAM_VIRTUALLY_FRAME" val="{&quot;height&quot;:557,&quot;left&quot;:81,&quot;top&quot;:202,&quot;width&quot;:1278.5}"/>
</p:tagLst>
</file>

<file path=ppt/tags/tag3.xml><?xml version="1.0" encoding="utf-8"?>
<p:tagLst xmlns:p="http://schemas.openxmlformats.org/presentationml/2006/main">
  <p:tag name="KSO_WM_DIAGRAM_VIRTUALLY_FRAME" val="{&quot;height&quot;:557,&quot;left&quot;:81,&quot;top&quot;:202,&quot;width&quot;:1278.5}"/>
</p:tagLst>
</file>

<file path=ppt/tags/tag4.xml><?xml version="1.0" encoding="utf-8"?>
<p:tagLst xmlns:p="http://schemas.openxmlformats.org/presentationml/2006/main">
  <p:tag name="KSO_WM_DIAGRAM_VIRTUALLY_FRAME" val="{&quot;height&quot;:557,&quot;left&quot;:81,&quot;top&quot;:202,&quot;width&quot;:1278.5}"/>
</p:tagLst>
</file>

<file path=ppt/tags/tag5.xml><?xml version="1.0" encoding="utf-8"?>
<p:tagLst xmlns:p="http://schemas.openxmlformats.org/presentationml/2006/main">
  <p:tag name="KSO_WM_DIAGRAM_VIRTUALLY_FRAME" val="{&quot;height&quot;:557,&quot;left&quot;:81,&quot;top&quot;:202,&quot;width&quot;:1278.5}"/>
</p:tagLst>
</file>

<file path=ppt/tags/tag6.xml><?xml version="1.0" encoding="utf-8"?>
<p:tagLst xmlns:p="http://schemas.openxmlformats.org/presentationml/2006/main">
  <p:tag name="KSO_WM_DIAGRAM_VIRTUALLY_FRAME" val="{&quot;height&quot;:557,&quot;left&quot;:81,&quot;top&quot;:202,&quot;width&quot;:1278.5}"/>
</p:tagLst>
</file>

<file path=ppt/tags/tag7.xml><?xml version="1.0" encoding="utf-8"?>
<p:tagLst xmlns:p="http://schemas.openxmlformats.org/presentationml/2006/main">
  <p:tag name="KSO_WM_DIAGRAM_VIRTUALLY_FRAME" val="{&quot;height&quot;:557,&quot;left&quot;:81,&quot;top&quot;:202,&quot;width&quot;:1278.5}"/>
</p:tagLst>
</file>

<file path=ppt/tags/tag8.xml><?xml version="1.0" encoding="utf-8"?>
<p:tagLst xmlns:p="http://schemas.openxmlformats.org/presentationml/2006/main">
  <p:tag name="KSO_WM_DIAGRAM_VIRTUALLY_FRAME" val="{&quot;height&quot;:557,&quot;left&quot;:81,&quot;top&quot;:202,&quot;width&quot;:1278.5}"/>
</p:tagLst>
</file>

<file path=ppt/tags/tag9.xml><?xml version="1.0" encoding="utf-8"?>
<p:tagLst xmlns:p="http://schemas.openxmlformats.org/presentationml/2006/main">
  <p:tag name="KSO_WM_DIAGRAM_VIRTUALLY_FRAME" val="{&quot;height&quot;:557,&quot;left&quot;:81,&quot;top&quot;:202,&quot;width&quot;:1278.5}"/>
</p:tagLst>
</file>

<file path=ppt/tags/tag10.xml><?xml version="1.0" encoding="utf-8"?>
<p:tagLst xmlns:p="http://schemas.openxmlformats.org/presentationml/2006/main">
  <p:tag name="KSO_WM_DIAGRAM_VIRTUALLY_FRAME" val="{&quot;height&quot;:557,&quot;left&quot;:81,&quot;top&quot;:202,&quot;width&quot;:1278.5}"/>
</p:tagLst>
</file>

<file path=ppt/tags/tag11.xml><?xml version="1.0" encoding="utf-8"?>
<p:tagLst xmlns:p="http://schemas.openxmlformats.org/presentationml/2006/main">
  <p:tag name="KSO_WM_DIAGRAM_VIRTUALLY_FRAME" val="{&quot;height&quot;:557,&quot;left&quot;:81,&quot;top&quot;:202,&quot;width&quot;:1278.5}"/>
</p:tagLst>
</file>

<file path=ppt/tags/tag12.xml><?xml version="1.0" encoding="utf-8"?>
<p:tagLst xmlns:p="http://schemas.openxmlformats.org/presentationml/2006/main">
  <p:tag name="KSO_WM_DIAGRAM_VIRTUALLY_FRAME" val="{&quot;height&quot;:557,&quot;left&quot;:81,&quot;top&quot;:202,&quot;width&quot;:1278.5}"/>
</p:tagLst>
</file>

<file path=ppt/tags/tag13.xml><?xml version="1.0" encoding="utf-8"?>
<p:tagLst xmlns:p="http://schemas.openxmlformats.org/presentationml/2006/main">
  <p:tag name="KSO_WM_DIAGRAM_VIRTUALLY_FRAME" val="{&quot;height&quot;:557,&quot;left&quot;:81,&quot;top&quot;:202,&quot;width&quot;:1278.5}"/>
</p:tagLst>
</file>

<file path=ppt/tags/tag14.xml><?xml version="1.0" encoding="utf-8"?>
<p:tagLst xmlns:p="http://schemas.openxmlformats.org/presentationml/2006/main">
  <p:tag name="KSO_WM_DIAGRAM_VIRTUALLY_FRAME" val="{&quot;height&quot;:557,&quot;left&quot;:81,&quot;top&quot;:202,&quot;width&quot;:1278.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3142</Words>
  <Application>WPS 演示</Application>
  <PresentationFormat>On-screen Show (4:3)</PresentationFormat>
  <Paragraphs>221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0" baseType="lpstr">
      <vt:lpstr>Arial</vt:lpstr>
      <vt:lpstr>宋体</vt:lpstr>
      <vt:lpstr>Wingdings</vt:lpstr>
      <vt:lpstr>IBM Plex Mono</vt:lpstr>
      <vt:lpstr>Microsoft YaHei UI</vt:lpstr>
      <vt:lpstr>IBM Plex Mono</vt:lpstr>
      <vt:lpstr>IBM Plex Mono Bold</vt:lpstr>
      <vt:lpstr>IBM Plex Mono Bold</vt:lpstr>
      <vt:lpstr>IBM Plex Mono Medium</vt:lpstr>
      <vt:lpstr>IBM Plex Mono Italics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Niebieska Szara Nowoczesna Analiza Danych Prezentacja</dc:title>
  <dc:creator/>
  <cp:lastModifiedBy>Drdoggie</cp:lastModifiedBy>
  <cp:revision>7</cp:revision>
  <dcterms:created xsi:type="dcterms:W3CDTF">2006-08-16T00:00:00Z</dcterms:created>
  <dcterms:modified xsi:type="dcterms:W3CDTF">2026-10-12T16:02:14Z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1556458FB365414085F94124503324FA_13</vt:lpwstr>
  </property>
  <property fmtid="{D5CDD505-2E9C-101B-9397-08002B2CF9AE}" pid="3" name="KSOProductBuildVer">
    <vt:lpwstr>2052-12.1.0.28488</vt:lpwstr>
  </property>
</Properties>
</file>